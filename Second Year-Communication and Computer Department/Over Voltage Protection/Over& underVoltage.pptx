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3" r:id="rId1"/>
  </p:sldMasterIdLst>
  <p:notesMasterIdLst>
    <p:notesMasterId r:id="rId13"/>
  </p:notesMasterIdLst>
  <p:sldIdLst>
    <p:sldId id="256" r:id="rId2"/>
    <p:sldId id="258" r:id="rId3"/>
    <p:sldId id="260" r:id="rId4"/>
    <p:sldId id="262" r:id="rId5"/>
    <p:sldId id="353" r:id="rId6"/>
    <p:sldId id="354" r:id="rId7"/>
    <p:sldId id="357" r:id="rId8"/>
    <p:sldId id="355" r:id="rId9"/>
    <p:sldId id="356" r:id="rId10"/>
    <p:sldId id="358" r:id="rId11"/>
    <p:sldId id="263"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BEBA91-2BAE-46AA-8CBF-A57542C2B688}">
  <a:tblStyle styleId="{07BEBA91-2BAE-46AA-8CBF-A57542C2B68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4226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7887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7157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809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8819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4847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248300"/>
            <a:ext cx="7064100" cy="20526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00900"/>
            <a:ext cx="7064100" cy="441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859325" y="1405390"/>
            <a:ext cx="2486100" cy="4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859325" y="180641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903925" y="1405390"/>
            <a:ext cx="2486100" cy="4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903925" y="180641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859325" y="3171118"/>
            <a:ext cx="2486100" cy="46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859325" y="356548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903925" y="3171118"/>
            <a:ext cx="2486100" cy="46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903975" y="356548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798575" y="1417915"/>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4753975" y="1403976"/>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798625" y="3176773"/>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4753975" y="3162833"/>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8" r:id="rId3"/>
    <p:sldLayoutId id="2147483659" r:id="rId4"/>
    <p:sldLayoutId id="2147483661" r:id="rId5"/>
    <p:sldLayoutId id="2147483663" r:id="rId6"/>
    <p:sldLayoutId id="2147483696" r:id="rId7"/>
    <p:sldLayoutId id="2147483697" r:id="rId8"/>
    <p:sldLayoutId id="2147483698" r:id="rId9"/>
    <p:sldLayoutId id="214748369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9"/>
          <p:cNvSpPr txBox="1">
            <a:spLocks noGrp="1"/>
          </p:cNvSpPr>
          <p:nvPr>
            <p:ph type="ctrTitle"/>
          </p:nvPr>
        </p:nvSpPr>
        <p:spPr>
          <a:xfrm>
            <a:off x="750040" y="1441588"/>
            <a:ext cx="7910737" cy="205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AS" sz="5400" dirty="0"/>
              <a:t>AC OVER &amp;UNDER</a:t>
            </a:r>
            <a:br>
              <a:rPr lang="en-AS" sz="5400" dirty="0"/>
            </a:br>
            <a:r>
              <a:rPr lang="en-AS" sz="5400" dirty="0"/>
              <a:t>VOLTAGE PROTECTION</a:t>
            </a:r>
            <a:endParaRPr sz="5400" dirty="0"/>
          </a:p>
        </p:txBody>
      </p:sp>
      <p:sp>
        <p:nvSpPr>
          <p:cNvPr id="483" name="Google Shape;483;p59"/>
          <p:cNvSpPr txBox="1">
            <a:spLocks noGrp="1"/>
          </p:cNvSpPr>
          <p:nvPr>
            <p:ph type="subTitle" idx="1"/>
          </p:nvPr>
        </p:nvSpPr>
        <p:spPr>
          <a:xfrm>
            <a:off x="1381954" y="3724214"/>
            <a:ext cx="6037307"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sz="3200" dirty="0"/>
              <a:t>Dr Tarek </a:t>
            </a:r>
            <a:r>
              <a:rPr sz="3200" dirty="0" err="1"/>
              <a:t>Elewa</a:t>
            </a:r>
            <a:r>
              <a:rPr sz="3200" dirty="0"/>
              <a:t>.</a:t>
            </a:r>
          </a:p>
          <a:p>
            <a:pPr marL="0" lvl="0" indent="0" algn="ctr" rtl="0">
              <a:spcBef>
                <a:spcPts val="0"/>
              </a:spcBef>
              <a:spcAft>
                <a:spcPts val="0"/>
              </a:spcAft>
              <a:buClr>
                <a:schemeClr val="dk1"/>
              </a:buClr>
              <a:buSzPts val="1100"/>
              <a:buFont typeface="Arial"/>
              <a:buNone/>
            </a:pPr>
            <a:r>
              <a:rPr lang="en-AS" sz="1800" dirty="0"/>
              <a:t>Shubra Faculty  of Engineering</a:t>
            </a:r>
            <a:endParaRP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 calcmode="lin" valueType="num">
                                      <p:cBhvr additive="base">
                                        <p:cTn id="7" dur="1000"/>
                                        <p:tgtEl>
                                          <p:spTgt spid="482"/>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3"/>
                                        </p:tgtEl>
                                        <p:attrNameLst>
                                          <p:attrName>style.visibility</p:attrName>
                                        </p:attrNameLst>
                                      </p:cBhvr>
                                      <p:to>
                                        <p:strVal val="visible"/>
                                      </p:to>
                                    </p:set>
                                    <p:anim calcmode="lin" valueType="num">
                                      <p:cBhvr additive="base">
                                        <p:cTn id="10" dur="1000"/>
                                        <p:tgtEl>
                                          <p:spTgt spid="4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495" name="Google Shape;495;p61"/>
          <p:cNvSpPr txBox="1">
            <a:spLocks noGrp="1"/>
          </p:cNvSpPr>
          <p:nvPr>
            <p:ph type="subTitle" idx="3"/>
          </p:nvPr>
        </p:nvSpPr>
        <p:spPr>
          <a:xfrm>
            <a:off x="1903925" y="1405390"/>
            <a:ext cx="2486100" cy="40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496" name="Google Shape;496;p61"/>
          <p:cNvSpPr txBox="1">
            <a:spLocks noGrp="1"/>
          </p:cNvSpPr>
          <p:nvPr>
            <p:ph type="subTitle" idx="1"/>
          </p:nvPr>
        </p:nvSpPr>
        <p:spPr>
          <a:xfrm>
            <a:off x="5859324" y="1405390"/>
            <a:ext cx="3812499" cy="40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Explain the project</a:t>
            </a:r>
          </a:p>
        </p:txBody>
      </p:sp>
      <p:sp>
        <p:nvSpPr>
          <p:cNvPr id="497" name="Google Shape;497;p61"/>
          <p:cNvSpPr txBox="1">
            <a:spLocks noGrp="1"/>
          </p:cNvSpPr>
          <p:nvPr>
            <p:ph type="subTitle" idx="2"/>
          </p:nvPr>
        </p:nvSpPr>
        <p:spPr>
          <a:xfrm>
            <a:off x="5859325" y="1806417"/>
            <a:ext cx="2486100" cy="6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dirty="0"/>
              <a:t>What is the Over &amp; under Voltage and how to protect our applications from it</a:t>
            </a:r>
          </a:p>
        </p:txBody>
      </p:sp>
      <p:sp>
        <p:nvSpPr>
          <p:cNvPr id="498" name="Google Shape;498;p61"/>
          <p:cNvSpPr txBox="1">
            <a:spLocks noGrp="1"/>
          </p:cNvSpPr>
          <p:nvPr>
            <p:ph type="subTitle" idx="4"/>
          </p:nvPr>
        </p:nvSpPr>
        <p:spPr>
          <a:xfrm>
            <a:off x="1903925" y="1806417"/>
            <a:ext cx="2486100" cy="6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S" dirty="0"/>
              <a:t>Describe the project and understand the operation of it</a:t>
            </a:r>
            <a:endParaRPr lang="en-US" dirty="0"/>
          </a:p>
        </p:txBody>
      </p:sp>
      <p:sp>
        <p:nvSpPr>
          <p:cNvPr id="499" name="Google Shape;499;p61"/>
          <p:cNvSpPr txBox="1">
            <a:spLocks noGrp="1"/>
          </p:cNvSpPr>
          <p:nvPr>
            <p:ph type="subTitle" idx="5"/>
          </p:nvPr>
        </p:nvSpPr>
        <p:spPr>
          <a:xfrm>
            <a:off x="5859325" y="3171118"/>
            <a:ext cx="2486100" cy="46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a:t>
            </a:r>
            <a:endParaRPr/>
          </a:p>
        </p:txBody>
      </p:sp>
      <p:sp>
        <p:nvSpPr>
          <p:cNvPr id="500" name="Google Shape;500;p61"/>
          <p:cNvSpPr txBox="1">
            <a:spLocks noGrp="1"/>
          </p:cNvSpPr>
          <p:nvPr>
            <p:ph type="subTitle" idx="6"/>
          </p:nvPr>
        </p:nvSpPr>
        <p:spPr>
          <a:xfrm>
            <a:off x="5859325" y="3565487"/>
            <a:ext cx="2486100" cy="6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dirty="0"/>
              <a:t>The final of our report</a:t>
            </a:r>
          </a:p>
        </p:txBody>
      </p:sp>
      <p:sp>
        <p:nvSpPr>
          <p:cNvPr id="501" name="Google Shape;501;p61"/>
          <p:cNvSpPr txBox="1">
            <a:spLocks noGrp="1"/>
          </p:cNvSpPr>
          <p:nvPr>
            <p:ph type="subTitle" idx="7"/>
          </p:nvPr>
        </p:nvSpPr>
        <p:spPr>
          <a:xfrm>
            <a:off x="1903925" y="3171118"/>
            <a:ext cx="2486100" cy="46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Analysis</a:t>
            </a:r>
            <a:r>
              <a:rPr lang="en-AS" dirty="0"/>
              <a:t> Circuit</a:t>
            </a:r>
            <a:endParaRPr dirty="0"/>
          </a:p>
        </p:txBody>
      </p:sp>
      <p:sp>
        <p:nvSpPr>
          <p:cNvPr id="502" name="Google Shape;502;p61"/>
          <p:cNvSpPr txBox="1">
            <a:spLocks noGrp="1"/>
          </p:cNvSpPr>
          <p:nvPr>
            <p:ph type="subTitle" idx="8"/>
          </p:nvPr>
        </p:nvSpPr>
        <p:spPr>
          <a:xfrm>
            <a:off x="1903975" y="3565487"/>
            <a:ext cx="2486100" cy="6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dirty="0"/>
              <a:t>Understand the Schematic of our project</a:t>
            </a:r>
          </a:p>
        </p:txBody>
      </p:sp>
      <p:sp>
        <p:nvSpPr>
          <p:cNvPr id="503" name="Google Shape;503;p61"/>
          <p:cNvSpPr txBox="1">
            <a:spLocks noGrp="1"/>
          </p:cNvSpPr>
          <p:nvPr>
            <p:ph type="title" idx="9"/>
          </p:nvPr>
        </p:nvSpPr>
        <p:spPr>
          <a:xfrm>
            <a:off x="798575" y="1417915"/>
            <a:ext cx="1039200" cy="66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01</a:t>
            </a:r>
            <a:endParaRPr/>
          </a:p>
        </p:txBody>
      </p:sp>
      <p:sp>
        <p:nvSpPr>
          <p:cNvPr id="504" name="Google Shape;504;p61"/>
          <p:cNvSpPr txBox="1">
            <a:spLocks noGrp="1"/>
          </p:cNvSpPr>
          <p:nvPr>
            <p:ph type="title" idx="13"/>
          </p:nvPr>
        </p:nvSpPr>
        <p:spPr>
          <a:xfrm>
            <a:off x="4753975" y="1403976"/>
            <a:ext cx="1039200" cy="66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02</a:t>
            </a:r>
            <a:endParaRPr/>
          </a:p>
        </p:txBody>
      </p:sp>
      <p:sp>
        <p:nvSpPr>
          <p:cNvPr id="505" name="Google Shape;505;p61"/>
          <p:cNvSpPr txBox="1">
            <a:spLocks noGrp="1"/>
          </p:cNvSpPr>
          <p:nvPr>
            <p:ph type="title" idx="14"/>
          </p:nvPr>
        </p:nvSpPr>
        <p:spPr>
          <a:xfrm>
            <a:off x="798625" y="3176773"/>
            <a:ext cx="1039200" cy="66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03</a:t>
            </a:r>
            <a:endParaRPr/>
          </a:p>
        </p:txBody>
      </p:sp>
      <p:sp>
        <p:nvSpPr>
          <p:cNvPr id="506" name="Google Shape;506;p61"/>
          <p:cNvSpPr txBox="1">
            <a:spLocks noGrp="1"/>
          </p:cNvSpPr>
          <p:nvPr>
            <p:ph type="title" idx="15"/>
          </p:nvPr>
        </p:nvSpPr>
        <p:spPr>
          <a:xfrm>
            <a:off x="4753975" y="3162833"/>
            <a:ext cx="1039200" cy="66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63"/>
          <p:cNvSpPr txBox="1">
            <a:spLocks noGrp="1"/>
          </p:cNvSpPr>
          <p:nvPr>
            <p:ph type="title"/>
          </p:nvPr>
        </p:nvSpPr>
        <p:spPr>
          <a:xfrm>
            <a:off x="1796265" y="3388116"/>
            <a:ext cx="599752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S" sz="2000" dirty="0"/>
              <a:t>Describe the project and understand the operation of it</a:t>
            </a:r>
            <a:endParaRPr lang="en-US" sz="2000" dirty="0"/>
          </a:p>
        </p:txBody>
      </p:sp>
      <p:sp>
        <p:nvSpPr>
          <p:cNvPr id="535" name="Google Shape;535;p63"/>
          <p:cNvSpPr txBox="1">
            <a:spLocks noGrp="1"/>
          </p:cNvSpPr>
          <p:nvPr>
            <p:ph type="subTitle" idx="1"/>
          </p:nvPr>
        </p:nvSpPr>
        <p:spPr>
          <a:xfrm>
            <a:off x="1969281" y="1666174"/>
            <a:ext cx="5458200" cy="997200"/>
          </a:xfrm>
          <a:prstGeom prst="rect">
            <a:avLst/>
          </a:prstGeom>
        </p:spPr>
        <p:txBody>
          <a:bodyPr spcFirstLastPara="1" wrap="square" lIns="91425" tIns="91425" rIns="91425" bIns="91425" anchor="t" anchorCtr="0">
            <a:noAutofit/>
          </a:bodyPr>
          <a:lstStyle/>
          <a:p>
            <a:pPr marL="0" indent="0">
              <a:spcAft>
                <a:spcPts val="1200"/>
              </a:spcAft>
            </a:pPr>
            <a:r>
              <a:rPr lang="en-US" sz="5400" dirty="0">
                <a:solidFill>
                  <a:srgbClr val="C00000"/>
                </a:solidFill>
              </a:rPr>
              <a:t>Introduction</a:t>
            </a:r>
          </a:p>
          <a:p>
            <a:pPr marL="0" lvl="0" indent="0" algn="ctr" rtl="0">
              <a:spcBef>
                <a:spcPts val="0"/>
              </a:spcBef>
              <a:spcAft>
                <a:spcPts val="1200"/>
              </a:spcAft>
              <a:buNone/>
            </a:pPr>
            <a:endParaRPr sz="5400" dirty="0">
              <a:solidFill>
                <a:srgbClr val="C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458100" y="1381800"/>
            <a:ext cx="5512692" cy="237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sz="1600" dirty="0"/>
              <a:t>In this project, we will make a smart </a:t>
            </a:r>
            <a:r>
              <a:rPr lang="en-US" sz="1600" dirty="0"/>
              <a:t>A</a:t>
            </a:r>
            <a:r>
              <a:rPr sz="1600" dirty="0"/>
              <a:t>rduino based AC Voltage protection With Under &amp; Over Voltage Protection Features</a:t>
            </a:r>
          </a:p>
          <a:p>
            <a:pPr marL="0" lvl="0" indent="0" algn="l" rtl="0">
              <a:spcBef>
                <a:spcPts val="0"/>
              </a:spcBef>
              <a:spcAft>
                <a:spcPts val="0"/>
              </a:spcAft>
              <a:buNone/>
            </a:pPr>
            <a:r>
              <a:rPr lang="en-US" sz="1600" b="0" i="0" dirty="0">
                <a:solidFill>
                  <a:srgbClr val="333333"/>
                </a:solidFill>
                <a:effectLst/>
                <a:latin typeface="Public Sans"/>
              </a:rPr>
              <a:t>Nowadays there are a lot of AC Mains voltage fluctuations due to interruption of heavy load, thunder &amp; lightning, and switching impulses. This can easily damage the electronics/electrical parts and sometimes lead to fire accidents. Voltage irregularities are the major issues in industries that often damage sensitive electronic equipment. In most cases, MCB is used as a protection system but it would be better if we implement our own system which could be cheaper and more advanced. Moreover, the system should have user input for under-voltage and over-voltage protection</a:t>
            </a:r>
            <a:r>
              <a:rPr lang="en-AS" sz="1600" b="0" i="0" dirty="0">
                <a:solidFill>
                  <a:srgbClr val="333333"/>
                </a:solidFill>
                <a:effectLst/>
                <a:latin typeface="Public Sans"/>
              </a:rPr>
              <a:t> .</a:t>
            </a:r>
          </a:p>
        </p:txBody>
      </p:sp>
      <p:sp>
        <p:nvSpPr>
          <p:cNvPr id="547" name="Google Shape;547;p65"/>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dirty="0"/>
              <a:t>Introduction</a:t>
            </a:r>
          </a:p>
        </p:txBody>
      </p:sp>
      <p:pic>
        <p:nvPicPr>
          <p:cNvPr id="5" name="Picture 4">
            <a:extLst>
              <a:ext uri="{FF2B5EF4-FFF2-40B4-BE49-F238E27FC236}">
                <a16:creationId xmlns:a16="http://schemas.microsoft.com/office/drawing/2014/main" id="{05735A2A-6220-F2A8-2BC4-EEB9D2350A22}"/>
              </a:ext>
            </a:extLst>
          </p:cNvPr>
          <p:cNvPicPr>
            <a:picLocks noChangeAspect="1"/>
          </p:cNvPicPr>
          <p:nvPr/>
        </p:nvPicPr>
        <p:blipFill>
          <a:blip r:embed="rId3"/>
          <a:stretch>
            <a:fillRect/>
          </a:stretch>
        </p:blipFill>
        <p:spPr>
          <a:xfrm>
            <a:off x="5970792" y="714735"/>
            <a:ext cx="2976788" cy="18570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526680" y="1176375"/>
            <a:ext cx="5279760" cy="237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0" i="0" dirty="0">
                <a:solidFill>
                  <a:srgbClr val="333333"/>
                </a:solidFill>
                <a:effectLst/>
                <a:latin typeface="Public Sans"/>
              </a:rPr>
              <a:t>Many devices are available in the market for AC Voltage Monitoring along with Under, Normal &amp; Over Voltage Protection features. But they are expensive and can’t have user input. This project aims to sort out all those drawbacks and develop protection &amp; monitoring for the electrical equipment from over and under AC voltages using Arduino as a controller at a low cost. We use Arduino to measure AC Voltage and based on under &amp; over voltage detection, the Relay can turn off the entire system.</a:t>
            </a:r>
            <a:endParaRPr lang="en-US" sz="1800" dirty="0"/>
          </a:p>
        </p:txBody>
      </p:sp>
      <p:sp>
        <p:nvSpPr>
          <p:cNvPr id="547" name="Google Shape;547;p65"/>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dirty="0"/>
              <a:t>Introduction</a:t>
            </a:r>
          </a:p>
        </p:txBody>
      </p:sp>
    </p:spTree>
    <p:extLst>
      <p:ext uri="{BB962C8B-B14F-4D97-AF65-F5344CB8AC3E}">
        <p14:creationId xmlns:p14="http://schemas.microsoft.com/office/powerpoint/2010/main" val="730960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526680" y="1176375"/>
            <a:ext cx="5279760" cy="2379900"/>
          </a:xfrm>
          <a:prstGeom prst="rect">
            <a:avLst/>
          </a:prstGeom>
        </p:spPr>
        <p:txBody>
          <a:bodyPr spcFirstLastPara="1" wrap="square" lIns="91425" tIns="91425" rIns="91425" bIns="91425" anchor="t" anchorCtr="0">
            <a:noAutofit/>
          </a:bodyPr>
          <a:lstStyle/>
          <a:p>
            <a:pPr algn="l" fontAlgn="base"/>
            <a:r>
              <a:rPr lang="en-US" sz="1600" b="0" i="0" dirty="0">
                <a:solidFill>
                  <a:srgbClr val="333333"/>
                </a:solidFill>
                <a:effectLst/>
                <a:latin typeface="Public Sans"/>
              </a:rPr>
              <a:t>Over</a:t>
            </a:r>
            <a:r>
              <a:rPr lang="en-AS" sz="1600" b="0" i="0" dirty="0">
                <a:solidFill>
                  <a:srgbClr val="333333"/>
                </a:solidFill>
                <a:effectLst/>
                <a:latin typeface="Public Sans"/>
              </a:rPr>
              <a:t> </a:t>
            </a:r>
            <a:r>
              <a:rPr lang="en-US" sz="1600" b="0" i="0" dirty="0">
                <a:solidFill>
                  <a:srgbClr val="333333"/>
                </a:solidFill>
                <a:effectLst/>
                <a:latin typeface="Public Sans"/>
              </a:rPr>
              <a:t>voltages are the voltages that exceed the normal or rated values which cause insulation damage to electrical appliances leading to short circuits. To be more precise, it’s when a supply voltage of 10 percent and above the rated voltage occurs. The conditions may be hazardous. Depending on its duration, the overvoltage event can be transient—a voltage spike—or permanent, leading to a power surge.</a:t>
            </a:r>
          </a:p>
          <a:p>
            <a:pPr algn="l" fontAlgn="base"/>
            <a:r>
              <a:rPr lang="en-US" sz="1600" b="0" i="0" dirty="0">
                <a:solidFill>
                  <a:srgbClr val="333333"/>
                </a:solidFill>
                <a:effectLst/>
                <a:latin typeface="Public Sans"/>
              </a:rPr>
              <a:t>Similarly, Undervoltage happens when the average voltage of equipment falls below the rated voltage amount. Frequent Undervoltage can result in a degradation in equipment performance and reliability.</a:t>
            </a:r>
            <a:br>
              <a:rPr lang="en-US" sz="2400" dirty="0"/>
            </a:br>
            <a:endParaRPr lang="en-US" sz="1800" dirty="0"/>
          </a:p>
        </p:txBody>
      </p:sp>
      <p:sp>
        <p:nvSpPr>
          <p:cNvPr id="547" name="Google Shape;547;p65"/>
          <p:cNvSpPr txBox="1">
            <a:spLocks noGrp="1"/>
          </p:cNvSpPr>
          <p:nvPr>
            <p:ph type="title"/>
          </p:nvPr>
        </p:nvSpPr>
        <p:spPr>
          <a:xfrm>
            <a:off x="713224" y="445025"/>
            <a:ext cx="7440175" cy="572700"/>
          </a:xfrm>
          <a:prstGeom prst="rect">
            <a:avLst/>
          </a:prstGeom>
        </p:spPr>
        <p:txBody>
          <a:bodyPr spcFirstLastPara="1" wrap="square" lIns="91425" tIns="91425" rIns="91425" bIns="91425" anchor="t" anchorCtr="0">
            <a:noAutofit/>
          </a:bodyPr>
          <a:lstStyle/>
          <a:p>
            <a:r>
              <a:rPr lang="en-US" b="1" i="0" dirty="0">
                <a:solidFill>
                  <a:srgbClr val="FF4500"/>
                </a:solidFill>
                <a:effectLst/>
                <a:latin typeface="inherit"/>
              </a:rPr>
              <a:t>What is Over Voltage &amp; Under Voltage?</a:t>
            </a:r>
            <a:br>
              <a:rPr lang="en-US" b="1" i="0" dirty="0">
                <a:solidFill>
                  <a:srgbClr val="FF4500"/>
                </a:solidFill>
                <a:effectLst/>
                <a:latin typeface="Public Sans"/>
              </a:rPr>
            </a:br>
            <a:endParaRPr dirty="0"/>
          </a:p>
        </p:txBody>
      </p:sp>
      <p:pic>
        <p:nvPicPr>
          <p:cNvPr id="2" name="Picture 1">
            <a:extLst>
              <a:ext uri="{FF2B5EF4-FFF2-40B4-BE49-F238E27FC236}">
                <a16:creationId xmlns:a16="http://schemas.microsoft.com/office/drawing/2014/main" id="{827740ED-0529-5F0D-7731-00EF1D630CDE}"/>
              </a:ext>
            </a:extLst>
          </p:cNvPr>
          <p:cNvPicPr>
            <a:picLocks noChangeAspect="1"/>
          </p:cNvPicPr>
          <p:nvPr/>
        </p:nvPicPr>
        <p:blipFill>
          <a:blip r:embed="rId3"/>
          <a:stretch>
            <a:fillRect/>
          </a:stretch>
        </p:blipFill>
        <p:spPr>
          <a:xfrm>
            <a:off x="5978412" y="1286235"/>
            <a:ext cx="2976788" cy="1857015"/>
          </a:xfrm>
          <a:prstGeom prst="rect">
            <a:avLst/>
          </a:prstGeom>
        </p:spPr>
      </p:pic>
    </p:spTree>
    <p:extLst>
      <p:ext uri="{BB962C8B-B14F-4D97-AF65-F5344CB8AC3E}">
        <p14:creationId xmlns:p14="http://schemas.microsoft.com/office/powerpoint/2010/main" val="2662996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526680" y="1176375"/>
            <a:ext cx="6140820" cy="2379900"/>
          </a:xfrm>
          <a:prstGeom prst="rect">
            <a:avLst/>
          </a:prstGeom>
        </p:spPr>
        <p:txBody>
          <a:bodyPr spcFirstLastPara="1" wrap="square" lIns="91425" tIns="91425" rIns="91425" bIns="91425" anchor="t" anchorCtr="0">
            <a:noAutofit/>
          </a:bodyPr>
          <a:lstStyle/>
          <a:p>
            <a:pPr algn="l" fontAlgn="base"/>
            <a:r>
              <a:rPr lang="en-AS" sz="2400" dirty="0"/>
              <a:t>Arduino UNO</a:t>
            </a:r>
          </a:p>
          <a:p>
            <a:pPr algn="l" fontAlgn="base"/>
            <a:r>
              <a:rPr lang="en-AS" sz="2400" dirty="0"/>
              <a:t>Generator</a:t>
            </a:r>
          </a:p>
          <a:p>
            <a:pPr algn="l" fontAlgn="base"/>
            <a:r>
              <a:rPr lang="en-AS" sz="2400" dirty="0"/>
              <a:t>Voltameter</a:t>
            </a:r>
          </a:p>
          <a:p>
            <a:pPr algn="l" fontAlgn="base"/>
            <a:r>
              <a:rPr lang="en-AS" sz="2400" dirty="0"/>
              <a:t>UP-Down Transformer</a:t>
            </a:r>
          </a:p>
          <a:p>
            <a:pPr algn="l" fontAlgn="base"/>
            <a:r>
              <a:rPr lang="en-AS" sz="2400" dirty="0"/>
              <a:t>Relay</a:t>
            </a:r>
          </a:p>
          <a:p>
            <a:pPr algn="l" fontAlgn="base"/>
            <a:r>
              <a:rPr lang="en-AS" sz="2400" dirty="0"/>
              <a:t>Capacitors </a:t>
            </a:r>
          </a:p>
          <a:p>
            <a:pPr algn="l" fontAlgn="base"/>
            <a:r>
              <a:rPr lang="en-AS" sz="2400" dirty="0"/>
              <a:t>Resistors (3of 100KOhm &amp; 1 of 10KOhm)</a:t>
            </a:r>
          </a:p>
          <a:p>
            <a:pPr algn="l" fontAlgn="base"/>
            <a:r>
              <a:rPr lang="en-AS" sz="2400" dirty="0"/>
              <a:t>LCD 20*4</a:t>
            </a:r>
          </a:p>
          <a:p>
            <a:pPr algn="l" fontAlgn="base"/>
            <a:r>
              <a:rPr lang="en-AS" sz="2400" dirty="0"/>
              <a:t>Led and Lamp</a:t>
            </a:r>
          </a:p>
          <a:p>
            <a:pPr algn="l" fontAlgn="base"/>
            <a:endParaRPr lang="en-US" sz="2400" dirty="0"/>
          </a:p>
        </p:txBody>
      </p:sp>
      <p:sp>
        <p:nvSpPr>
          <p:cNvPr id="547" name="Google Shape;547;p65"/>
          <p:cNvSpPr txBox="1">
            <a:spLocks noGrp="1"/>
          </p:cNvSpPr>
          <p:nvPr>
            <p:ph type="title"/>
          </p:nvPr>
        </p:nvSpPr>
        <p:spPr>
          <a:xfrm>
            <a:off x="713224" y="445025"/>
            <a:ext cx="7440175" cy="572700"/>
          </a:xfrm>
          <a:prstGeom prst="rect">
            <a:avLst/>
          </a:prstGeom>
        </p:spPr>
        <p:txBody>
          <a:bodyPr spcFirstLastPara="1" wrap="square" lIns="91425" tIns="91425" rIns="91425" bIns="91425" anchor="t" anchorCtr="0">
            <a:noAutofit/>
          </a:bodyPr>
          <a:lstStyle/>
          <a:p>
            <a:r>
              <a:rPr dirty="0">
                <a:solidFill>
                  <a:srgbClr val="C00000"/>
                </a:solidFill>
              </a:rPr>
              <a:t>Our Components</a:t>
            </a:r>
          </a:p>
        </p:txBody>
      </p:sp>
    </p:spTree>
    <p:extLst>
      <p:ext uri="{BB962C8B-B14F-4D97-AF65-F5344CB8AC3E}">
        <p14:creationId xmlns:p14="http://schemas.microsoft.com/office/powerpoint/2010/main" val="2458293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526680" y="1176375"/>
            <a:ext cx="5279760" cy="2379900"/>
          </a:xfrm>
          <a:prstGeom prst="rect">
            <a:avLst/>
          </a:prstGeom>
        </p:spPr>
        <p:txBody>
          <a:bodyPr spcFirstLastPara="1" wrap="square" lIns="91425" tIns="91425" rIns="91425" bIns="91425" anchor="t" anchorCtr="0">
            <a:noAutofit/>
          </a:bodyPr>
          <a:lstStyle/>
          <a:p>
            <a:pPr algn="l" fontAlgn="base"/>
            <a:endParaRPr lang="en-US" sz="1800" dirty="0"/>
          </a:p>
        </p:txBody>
      </p:sp>
      <p:sp>
        <p:nvSpPr>
          <p:cNvPr id="547" name="Google Shape;547;p65"/>
          <p:cNvSpPr txBox="1">
            <a:spLocks noGrp="1"/>
          </p:cNvSpPr>
          <p:nvPr>
            <p:ph type="title"/>
          </p:nvPr>
        </p:nvSpPr>
        <p:spPr>
          <a:xfrm>
            <a:off x="713224" y="445025"/>
            <a:ext cx="8430776" cy="572700"/>
          </a:xfrm>
          <a:prstGeom prst="rect">
            <a:avLst/>
          </a:prstGeom>
        </p:spPr>
        <p:txBody>
          <a:bodyPr spcFirstLastPara="1" wrap="square" lIns="91425" tIns="91425" rIns="91425" bIns="91425" anchor="t" anchorCtr="0">
            <a:noAutofit/>
          </a:bodyPr>
          <a:lstStyle/>
          <a:p>
            <a:pPr algn="l" fontAlgn="base"/>
            <a:r>
              <a:rPr lang="en-US" sz="2400" b="1" i="0" dirty="0">
                <a:solidFill>
                  <a:srgbClr val="FF4500"/>
                </a:solidFill>
                <a:effectLst/>
                <a:latin typeface="inherit"/>
              </a:rPr>
              <a:t>Circuit Diagram: Arduino Over &amp; Under AC Voltage Monitoring</a:t>
            </a:r>
            <a:endParaRPr lang="en-US" sz="2400" b="1" i="0" dirty="0">
              <a:solidFill>
                <a:srgbClr val="FF4500"/>
              </a:solidFill>
              <a:effectLst/>
              <a:latin typeface="Public Sans"/>
            </a:endParaRPr>
          </a:p>
        </p:txBody>
      </p:sp>
      <p:pic>
        <p:nvPicPr>
          <p:cNvPr id="3" name="Picture 2">
            <a:extLst>
              <a:ext uri="{FF2B5EF4-FFF2-40B4-BE49-F238E27FC236}">
                <a16:creationId xmlns:a16="http://schemas.microsoft.com/office/drawing/2014/main" id="{D9942F3A-8391-692A-A8DA-5B38CDE7A82C}"/>
              </a:ext>
            </a:extLst>
          </p:cNvPr>
          <p:cNvPicPr>
            <a:picLocks noChangeAspect="1"/>
          </p:cNvPicPr>
          <p:nvPr/>
        </p:nvPicPr>
        <p:blipFill rotWithShape="1">
          <a:blip r:embed="rId3"/>
          <a:srcRect l="23421" t="13759" r="15109" b="13198"/>
          <a:stretch/>
        </p:blipFill>
        <p:spPr>
          <a:xfrm>
            <a:off x="461951" y="1152293"/>
            <a:ext cx="7867008" cy="3546182"/>
          </a:xfrm>
          <a:prstGeom prst="rect">
            <a:avLst/>
          </a:prstGeom>
        </p:spPr>
      </p:pic>
    </p:spTree>
    <p:extLst>
      <p:ext uri="{BB962C8B-B14F-4D97-AF65-F5344CB8AC3E}">
        <p14:creationId xmlns:p14="http://schemas.microsoft.com/office/powerpoint/2010/main" val="129246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526680" y="1176375"/>
            <a:ext cx="7440174" cy="2379900"/>
          </a:xfrm>
          <a:prstGeom prst="rect">
            <a:avLst/>
          </a:prstGeom>
        </p:spPr>
        <p:txBody>
          <a:bodyPr spcFirstLastPara="1" wrap="square" lIns="91425" tIns="91425" rIns="91425" bIns="91425" anchor="t" anchorCtr="0">
            <a:noAutofit/>
          </a:bodyPr>
          <a:lstStyle/>
          <a:p>
            <a:pPr algn="l" fontAlgn="base"/>
            <a:r>
              <a:rPr lang="en-AS" sz="1800" dirty="0"/>
              <a:t>First we have a Generators to Produce AC Voltage</a:t>
            </a:r>
          </a:p>
          <a:p>
            <a:pPr fontAlgn="base"/>
            <a:r>
              <a:rPr lang="en-AS" sz="1800" dirty="0"/>
              <a:t>Use  UP-Down Transformer to Decrease our Voltage</a:t>
            </a:r>
          </a:p>
          <a:p>
            <a:pPr fontAlgn="base"/>
            <a:r>
              <a:rPr lang="en-AS" sz="1800" dirty="0"/>
              <a:t>We apply The output voltage on resistors  To enable us to apply it on Arduino</a:t>
            </a:r>
          </a:p>
          <a:p>
            <a:pPr fontAlgn="base"/>
            <a:r>
              <a:rPr lang="en-AS" sz="1800" dirty="0"/>
              <a:t>Arduino connected with 5V and GND</a:t>
            </a:r>
          </a:p>
          <a:p>
            <a:pPr fontAlgn="base"/>
            <a:r>
              <a:rPr lang="en-AS" sz="1800" dirty="0"/>
              <a:t>Arduino reads the voltage through pin A0 which is on resistor</a:t>
            </a:r>
          </a:p>
          <a:p>
            <a:pPr fontAlgn="base"/>
            <a:r>
              <a:rPr lang="en-AS" sz="1800" dirty="0"/>
              <a:t>Then it applying The code we Upload on it.</a:t>
            </a:r>
          </a:p>
          <a:p>
            <a:pPr fontAlgn="base"/>
            <a:r>
              <a:rPr lang="en-AS" sz="1800" dirty="0"/>
              <a:t>Relay will be controlled by Arduino (ON, OFF).</a:t>
            </a:r>
          </a:p>
          <a:p>
            <a:pPr fontAlgn="base"/>
            <a:r>
              <a:rPr lang="en-AS" sz="1800" dirty="0"/>
              <a:t>The Red Led will be on if Under and Over voltage occurs. </a:t>
            </a:r>
          </a:p>
          <a:p>
            <a:pPr fontAlgn="base"/>
            <a:r>
              <a:rPr lang="en-AS" sz="1800" dirty="0"/>
              <a:t>The LCD will display the state of the voltage  (Over, Normal and Under) and </a:t>
            </a:r>
            <a:r>
              <a:rPr lang="en-AS" sz="1800" dirty="0" err="1"/>
              <a:t>Vrms</a:t>
            </a:r>
            <a:r>
              <a:rPr lang="en-AS" sz="1800" dirty="0"/>
              <a:t> value</a:t>
            </a:r>
          </a:p>
          <a:p>
            <a:pPr fontAlgn="base"/>
            <a:endParaRPr lang="en-AS" sz="1800" dirty="0"/>
          </a:p>
          <a:p>
            <a:pPr fontAlgn="base"/>
            <a:endParaRPr lang="en-AS" sz="1800" dirty="0"/>
          </a:p>
          <a:p>
            <a:pPr fontAlgn="base"/>
            <a:endParaRPr lang="en-AS" sz="1800" dirty="0"/>
          </a:p>
        </p:txBody>
      </p:sp>
      <p:sp>
        <p:nvSpPr>
          <p:cNvPr id="547" name="Google Shape;547;p65"/>
          <p:cNvSpPr txBox="1">
            <a:spLocks noGrp="1"/>
          </p:cNvSpPr>
          <p:nvPr>
            <p:ph type="title"/>
          </p:nvPr>
        </p:nvSpPr>
        <p:spPr>
          <a:xfrm>
            <a:off x="713224" y="445025"/>
            <a:ext cx="7440175" cy="572700"/>
          </a:xfrm>
          <a:prstGeom prst="rect">
            <a:avLst/>
          </a:prstGeom>
        </p:spPr>
        <p:txBody>
          <a:bodyPr spcFirstLastPara="1" wrap="square" lIns="91425" tIns="91425" rIns="91425" bIns="91425" anchor="t" anchorCtr="0">
            <a:noAutofit/>
          </a:bodyPr>
          <a:lstStyle/>
          <a:p>
            <a:r>
              <a:rPr lang="en-US" sz="2000" b="1" i="0" dirty="0">
                <a:solidFill>
                  <a:srgbClr val="FF4500"/>
                </a:solidFill>
                <a:effectLst/>
                <a:latin typeface="inherit"/>
              </a:rPr>
              <a:t>Circuit Diagram: Arduino Over &amp; Under AC Voltage Monitoring</a:t>
            </a:r>
            <a:endParaRPr sz="2000" dirty="0"/>
          </a:p>
        </p:txBody>
      </p:sp>
    </p:spTree>
    <p:extLst>
      <p:ext uri="{BB962C8B-B14F-4D97-AF65-F5344CB8AC3E}">
        <p14:creationId xmlns:p14="http://schemas.microsoft.com/office/powerpoint/2010/main" val="1272480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526680" y="1176375"/>
            <a:ext cx="5279760" cy="2379900"/>
          </a:xfrm>
          <a:prstGeom prst="rect">
            <a:avLst/>
          </a:prstGeom>
        </p:spPr>
        <p:txBody>
          <a:bodyPr spcFirstLastPara="1" wrap="square" lIns="91425" tIns="91425" rIns="91425" bIns="91425" anchor="t" anchorCtr="0">
            <a:noAutofit/>
          </a:bodyPr>
          <a:lstStyle/>
          <a:p>
            <a:pPr algn="l" fontAlgn="base"/>
            <a:endParaRPr lang="en-US" sz="1800" dirty="0"/>
          </a:p>
        </p:txBody>
      </p:sp>
      <p:sp>
        <p:nvSpPr>
          <p:cNvPr id="547" name="Google Shape;547;p65"/>
          <p:cNvSpPr txBox="1">
            <a:spLocks noGrp="1"/>
          </p:cNvSpPr>
          <p:nvPr>
            <p:ph type="title"/>
          </p:nvPr>
        </p:nvSpPr>
        <p:spPr>
          <a:xfrm>
            <a:off x="713224" y="445025"/>
            <a:ext cx="8430776" cy="572700"/>
          </a:xfrm>
          <a:prstGeom prst="rect">
            <a:avLst/>
          </a:prstGeom>
        </p:spPr>
        <p:txBody>
          <a:bodyPr spcFirstLastPara="1" wrap="square" lIns="91425" tIns="91425" rIns="91425" bIns="91425" anchor="t" anchorCtr="0">
            <a:noAutofit/>
          </a:bodyPr>
          <a:lstStyle/>
          <a:p>
            <a:pPr algn="l" fontAlgn="base"/>
            <a:r>
              <a:rPr lang="en-US" sz="2400" b="1" i="0" dirty="0">
                <a:solidFill>
                  <a:srgbClr val="FF4500"/>
                </a:solidFill>
                <a:effectLst/>
                <a:latin typeface="inherit"/>
              </a:rPr>
              <a:t>Circuit Code: Arduino Over &amp; Under AC Voltage Monitoring</a:t>
            </a:r>
            <a:endParaRPr lang="en-US" sz="2400" b="1" i="0" dirty="0">
              <a:solidFill>
                <a:srgbClr val="FF4500"/>
              </a:solidFill>
              <a:effectLst/>
              <a:latin typeface="Public Sans"/>
            </a:endParaRPr>
          </a:p>
        </p:txBody>
      </p:sp>
      <p:pic>
        <p:nvPicPr>
          <p:cNvPr id="4" name="Picture 3">
            <a:extLst>
              <a:ext uri="{FF2B5EF4-FFF2-40B4-BE49-F238E27FC236}">
                <a16:creationId xmlns:a16="http://schemas.microsoft.com/office/drawing/2014/main" id="{991D0CC1-A2E1-24E5-51E4-F326768E4912}"/>
              </a:ext>
            </a:extLst>
          </p:cNvPr>
          <p:cNvPicPr>
            <a:picLocks noChangeAspect="1"/>
          </p:cNvPicPr>
          <p:nvPr/>
        </p:nvPicPr>
        <p:blipFill rotWithShape="1">
          <a:blip r:embed="rId3"/>
          <a:srcRect t="14880" r="47750" b="21777"/>
          <a:stretch/>
        </p:blipFill>
        <p:spPr>
          <a:xfrm>
            <a:off x="569100" y="1176375"/>
            <a:ext cx="4208640" cy="3258006"/>
          </a:xfrm>
          <a:prstGeom prst="rect">
            <a:avLst/>
          </a:prstGeom>
        </p:spPr>
      </p:pic>
      <p:pic>
        <p:nvPicPr>
          <p:cNvPr id="6" name="Picture 5">
            <a:extLst>
              <a:ext uri="{FF2B5EF4-FFF2-40B4-BE49-F238E27FC236}">
                <a16:creationId xmlns:a16="http://schemas.microsoft.com/office/drawing/2014/main" id="{EE193677-ADE3-81FF-A868-F307F59258CA}"/>
              </a:ext>
            </a:extLst>
          </p:cNvPr>
          <p:cNvPicPr>
            <a:picLocks noChangeAspect="1"/>
          </p:cNvPicPr>
          <p:nvPr/>
        </p:nvPicPr>
        <p:blipFill rotWithShape="1">
          <a:blip r:embed="rId4"/>
          <a:srcRect t="12936" r="55057" b="21731"/>
          <a:stretch/>
        </p:blipFill>
        <p:spPr>
          <a:xfrm>
            <a:off x="4820160" y="1158893"/>
            <a:ext cx="4118100" cy="3367387"/>
          </a:xfrm>
          <a:prstGeom prst="rect">
            <a:avLst/>
          </a:prstGeom>
        </p:spPr>
      </p:pic>
    </p:spTree>
    <p:extLst>
      <p:ext uri="{BB962C8B-B14F-4D97-AF65-F5344CB8AC3E}">
        <p14:creationId xmlns:p14="http://schemas.microsoft.com/office/powerpoint/2010/main" val="3183480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66"/>
          <p:cNvSpPr txBox="1">
            <a:spLocks noGrp="1"/>
          </p:cNvSpPr>
          <p:nvPr>
            <p:ph type="subTitle" idx="1"/>
          </p:nvPr>
        </p:nvSpPr>
        <p:spPr>
          <a:xfrm>
            <a:off x="651960" y="104660"/>
            <a:ext cx="3847200" cy="237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lang="en-AS" sz="2800" dirty="0">
              <a:solidFill>
                <a:schemeClr val="dk1"/>
              </a:solidFill>
            </a:endParaRPr>
          </a:p>
          <a:p>
            <a:pPr marL="0" lvl="0" indent="0" algn="l" rtl="0">
              <a:spcBef>
                <a:spcPts val="0"/>
              </a:spcBef>
              <a:spcAft>
                <a:spcPts val="0"/>
              </a:spcAft>
              <a:buClr>
                <a:schemeClr val="dk1"/>
              </a:buClr>
              <a:buSzPts val="1100"/>
              <a:buFont typeface="Arial"/>
              <a:buNone/>
            </a:pPr>
            <a:endParaRPr lang="en-AS" sz="2800" dirty="0">
              <a:solidFill>
                <a:schemeClr val="dk1"/>
              </a:solidFill>
            </a:endParaRPr>
          </a:p>
          <a:p>
            <a:pPr marL="0" lvl="0" indent="0" algn="l" rtl="0">
              <a:spcBef>
                <a:spcPts val="0"/>
              </a:spcBef>
              <a:spcAft>
                <a:spcPts val="0"/>
              </a:spcAft>
              <a:buClr>
                <a:schemeClr val="dk1"/>
              </a:buClr>
              <a:buSzPts val="1100"/>
              <a:buFont typeface="Arial"/>
              <a:buNone/>
            </a:pPr>
            <a:endParaRPr lang="en-US" sz="2800" dirty="0">
              <a:solidFill>
                <a:schemeClr val="dk1"/>
              </a:solidFill>
            </a:endParaRPr>
          </a:p>
          <a:p>
            <a:pPr marL="457200" lvl="0" indent="-317500" algn="l" rtl="0">
              <a:spcBef>
                <a:spcPts val="1000"/>
              </a:spcBef>
              <a:spcAft>
                <a:spcPts val="0"/>
              </a:spcAft>
              <a:buSzPts val="1400"/>
              <a:buChar char="●"/>
            </a:pPr>
            <a:r>
              <a:rPr lang="en-AS" sz="2800" dirty="0">
                <a:solidFill>
                  <a:schemeClr val="dk1"/>
                </a:solidFill>
              </a:rPr>
              <a:t>Habiba Mahmoud</a:t>
            </a:r>
            <a:endParaRPr sz="2800" dirty="0">
              <a:solidFill>
                <a:schemeClr val="dk1"/>
              </a:solidFill>
            </a:endParaRPr>
          </a:p>
          <a:p>
            <a:pPr marL="457200" lvl="0" indent="-317500" algn="l" rtl="0">
              <a:spcBef>
                <a:spcPts val="0"/>
              </a:spcBef>
              <a:spcAft>
                <a:spcPts val="0"/>
              </a:spcAft>
              <a:buSzPts val="1400"/>
              <a:buChar char="●"/>
            </a:pPr>
            <a:r>
              <a:rPr lang="en-AS" sz="2800" dirty="0">
                <a:solidFill>
                  <a:schemeClr val="dk1"/>
                </a:solidFill>
              </a:rPr>
              <a:t>Habiba Ahmed</a:t>
            </a:r>
          </a:p>
          <a:p>
            <a:pPr marL="457200" lvl="0" indent="-317500" algn="l" rtl="0">
              <a:spcBef>
                <a:spcPts val="0"/>
              </a:spcBef>
              <a:spcAft>
                <a:spcPts val="0"/>
              </a:spcAft>
              <a:buSzPts val="1400"/>
              <a:buChar char="●"/>
            </a:pPr>
            <a:r>
              <a:rPr lang="en-AS" sz="2800" dirty="0" err="1">
                <a:solidFill>
                  <a:schemeClr val="dk1"/>
                </a:solidFill>
              </a:rPr>
              <a:t>Bosina</a:t>
            </a:r>
            <a:r>
              <a:rPr lang="en-AS" sz="2800" dirty="0">
                <a:solidFill>
                  <a:schemeClr val="dk1"/>
                </a:solidFill>
              </a:rPr>
              <a:t> Saad</a:t>
            </a:r>
          </a:p>
          <a:p>
            <a:pPr marL="457200" lvl="0" indent="-317500" algn="l" rtl="0">
              <a:spcBef>
                <a:spcPts val="0"/>
              </a:spcBef>
              <a:spcAft>
                <a:spcPts val="0"/>
              </a:spcAft>
              <a:buSzPts val="1400"/>
              <a:buChar char="●"/>
            </a:pPr>
            <a:r>
              <a:rPr lang="en-AS" sz="2800" dirty="0">
                <a:solidFill>
                  <a:schemeClr val="dk1"/>
                </a:solidFill>
              </a:rPr>
              <a:t>Salma </a:t>
            </a:r>
            <a:r>
              <a:rPr lang="en-AS" sz="2800" dirty="0" err="1">
                <a:solidFill>
                  <a:schemeClr val="dk1"/>
                </a:solidFill>
              </a:rPr>
              <a:t>Bahaa</a:t>
            </a:r>
            <a:endParaRPr lang="en-AS" sz="2800" dirty="0">
              <a:solidFill>
                <a:schemeClr val="dk1"/>
              </a:solidFill>
            </a:endParaRPr>
          </a:p>
          <a:p>
            <a:pPr marL="457200" lvl="0" indent="-317500" algn="l" rtl="0">
              <a:spcBef>
                <a:spcPts val="0"/>
              </a:spcBef>
              <a:spcAft>
                <a:spcPts val="0"/>
              </a:spcAft>
              <a:buSzPts val="1400"/>
              <a:buChar char="●"/>
            </a:pPr>
            <a:r>
              <a:rPr lang="en-AS" sz="2800" dirty="0">
                <a:solidFill>
                  <a:schemeClr val="dk1"/>
                </a:solidFill>
              </a:rPr>
              <a:t>Yasmeen Essam </a:t>
            </a:r>
          </a:p>
          <a:p>
            <a:pPr marL="457200" lvl="0" indent="-317500" algn="l" rtl="0">
              <a:spcBef>
                <a:spcPts val="0"/>
              </a:spcBef>
              <a:spcAft>
                <a:spcPts val="0"/>
              </a:spcAft>
              <a:buSzPts val="1400"/>
              <a:buChar char="●"/>
            </a:pPr>
            <a:r>
              <a:rPr lang="en-AS" sz="2800" dirty="0">
                <a:solidFill>
                  <a:schemeClr val="dk1"/>
                </a:solidFill>
              </a:rPr>
              <a:t>Aya Mohamed</a:t>
            </a:r>
            <a:endParaRPr sz="2800" dirty="0"/>
          </a:p>
        </p:txBody>
      </p:sp>
      <p:sp>
        <p:nvSpPr>
          <p:cNvPr id="554" name="Google Shape;554;p66"/>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dirty="0">
                <a:solidFill>
                  <a:srgbClr val="C00000"/>
                </a:solidFill>
              </a:rPr>
              <a:t>Thanks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553"/>
                                        </p:tgtEl>
                                        <p:attrNameLst>
                                          <p:attrName>style.visibility</p:attrName>
                                        </p:attrNameLst>
                                      </p:cBhvr>
                                      <p:to>
                                        <p:strVal val="visible"/>
                                      </p:to>
                                    </p:set>
                                    <p:anim calcmode="lin" valueType="num">
                                      <p:cBhvr additive="base">
                                        <p:cTn id="7" dur="1000"/>
                                        <p:tgtEl>
                                          <p:spTgt spid="553"/>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554"/>
                                        </p:tgtEl>
                                        <p:attrNameLst>
                                          <p:attrName>style.visibility</p:attrName>
                                        </p:attrNameLst>
                                      </p:cBhvr>
                                      <p:to>
                                        <p:strVal val="visible"/>
                                      </p:to>
                                    </p:set>
                                    <p:anim calcmode="lin" valueType="num">
                                      <p:cBhvr additive="base">
                                        <p:cTn id="10" dur="1000"/>
                                        <p:tgtEl>
                                          <p:spTgt spid="5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inimalist Business Slides XL by Slidesgo">
  <a:themeElements>
    <a:clrScheme name="Simple Light">
      <a:dk1>
        <a:srgbClr val="000000"/>
      </a:dk1>
      <a:lt1>
        <a:srgbClr val="E3E7F0"/>
      </a:lt1>
      <a:dk2>
        <a:srgbClr val="000000"/>
      </a:dk2>
      <a:lt2>
        <a:srgbClr val="E3E7F0"/>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573</Words>
  <Application>Microsoft Office PowerPoint</Application>
  <PresentationFormat>On-screen Show (16:9)</PresentationFormat>
  <Paragraphs>59</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Crimson Text</vt:lpstr>
      <vt:lpstr>inherit</vt:lpstr>
      <vt:lpstr>Montserrat</vt:lpstr>
      <vt:lpstr>Public Sans</vt:lpstr>
      <vt:lpstr>Vidaloka</vt:lpstr>
      <vt:lpstr>Minimalist Business Slides XL by Slidesgo</vt:lpstr>
      <vt:lpstr>AC OVER &amp;UNDER VOLTAGE PROTECTION</vt:lpstr>
      <vt:lpstr>Table of contents</vt:lpstr>
      <vt:lpstr>Describe the project and understand the operation of it</vt:lpstr>
      <vt:lpstr>Introduction</vt:lpstr>
      <vt:lpstr>Introduction</vt:lpstr>
      <vt:lpstr>What is Over Voltage &amp; Under Voltage? </vt:lpstr>
      <vt:lpstr>Our Components</vt:lpstr>
      <vt:lpstr>Circuit Diagram: Arduino Over &amp; Under AC Voltage Monitoring</vt:lpstr>
      <vt:lpstr>Circuit Diagram: Arduino Over &amp; Under AC Voltage Monitoring</vt:lpstr>
      <vt:lpstr>Circuit Code: Arduino Over &amp; Under AC Voltage Monitoring</vt:lpstr>
      <vt:lpstr>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 OVER &amp;UNDER VOLTAGE PROTECTION</dc:title>
  <cp:lastModifiedBy>ايه محمد سيد حامد</cp:lastModifiedBy>
  <cp:revision>5</cp:revision>
  <dcterms:modified xsi:type="dcterms:W3CDTF">2023-10-28T09:32:51Z</dcterms:modified>
</cp:coreProperties>
</file>