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Public Sans" panose="020B0604020202020204" charset="0"/>
      <p:regular r:id="rId19"/>
    </p:embeddedFont>
    <p:embeddedFont>
      <p:font typeface="Public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6882" y="655198"/>
            <a:ext cx="933701" cy="933701"/>
          </a:xfrm>
          <a:custGeom>
            <a:avLst/>
            <a:gdLst/>
            <a:ahLst/>
            <a:cxnLst/>
            <a:rect l="l" t="t" r="r" b="b"/>
            <a:pathLst>
              <a:path w="933701" h="933701">
                <a:moveTo>
                  <a:pt x="0" y="0"/>
                </a:moveTo>
                <a:lnTo>
                  <a:pt x="933701" y="0"/>
                </a:lnTo>
                <a:lnTo>
                  <a:pt x="933701" y="933701"/>
                </a:lnTo>
                <a:lnTo>
                  <a:pt x="0" y="933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06882" y="4728792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SELF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6364" y="2227074"/>
            <a:ext cx="18664748" cy="2025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89"/>
              </a:lnSpc>
            </a:pPr>
            <a:r>
              <a:rPr lang="en-US" sz="15812" spc="79">
                <a:solidFill>
                  <a:srgbClr val="2B2C30"/>
                </a:solidFill>
                <a:latin typeface="Arimo"/>
              </a:rPr>
              <a:t>Function generator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407" y="7602855"/>
            <a:ext cx="7862435" cy="174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</a:rPr>
              <a:t>Aya Mohamed Sayed</a:t>
            </a:r>
          </a:p>
          <a:p>
            <a:pPr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</a:rPr>
              <a:t>Sec 1 </a:t>
            </a:r>
          </a:p>
          <a:p>
            <a:pPr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</a:rPr>
              <a:t>B.No 9</a:t>
            </a:r>
          </a:p>
          <a:p>
            <a:pPr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</a:rPr>
              <a:t>Shubra faculty of engineering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66679" y="8389564"/>
            <a:ext cx="3588501" cy="128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97"/>
              </a:lnSpc>
            </a:pPr>
            <a:r>
              <a:rPr lang="en-US" sz="5272" spc="26">
                <a:solidFill>
                  <a:srgbClr val="2B2C30"/>
                </a:solidFill>
                <a:latin typeface="Arimo"/>
              </a:rPr>
              <a:t>Dr.Tarek Elewa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48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FF3131"/>
                </a:solidFill>
                <a:latin typeface="Public Sans Bold"/>
              </a:rPr>
              <a:t>OUR TOPICS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689" y="2122290"/>
            <a:ext cx="7877184" cy="4552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Define what is function generator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The role of Function generator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Our circuit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Explain the circuit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Components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spc="13">
                <a:solidFill>
                  <a:srgbClr val="2B2C30"/>
                </a:solidFill>
                <a:latin typeface="Public Sans"/>
              </a:rPr>
              <a:t>The breadboard of circuit</a:t>
            </a:r>
          </a:p>
          <a:p>
            <a:pPr>
              <a:lnSpc>
                <a:spcPts val="5235"/>
              </a:lnSpc>
            </a:pPr>
            <a:endParaRPr lang="en-US" sz="2799" spc="13">
              <a:solidFill>
                <a:srgbClr val="2B2C30"/>
              </a:solidFill>
              <a:latin typeface="Public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496588" y="861169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06871" y="2565693"/>
            <a:ext cx="14569153" cy="605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97"/>
              </a:lnSpc>
            </a:pPr>
            <a:r>
              <a:rPr lang="en-US" sz="4613" spc="23">
                <a:solidFill>
                  <a:srgbClr val="2B2C30"/>
                </a:solidFill>
                <a:latin typeface="Arimo"/>
              </a:rPr>
              <a:t>Definition: Function Generator is basically a signal generator that produces different types of waveforms at the output. It has the ability to produce waveforms such as sine wave, square wave, a triangular wave, sawtooth wave etc. An adjustable frequency range is provided by the function generator which is in the range of some Hz to several 100KHz</a:t>
            </a:r>
          </a:p>
          <a:p>
            <a:pPr>
              <a:lnSpc>
                <a:spcPts val="5997"/>
              </a:lnSpc>
            </a:pPr>
            <a:endParaRPr lang="en-US" sz="4613" spc="23">
              <a:solidFill>
                <a:srgbClr val="2B2C30"/>
              </a:solidFill>
              <a:latin typeface="Arim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WHAT IS FUNCTION GENERATOR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764456" y="861169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06871" y="2556168"/>
            <a:ext cx="15962743" cy="414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71"/>
              </a:lnSpc>
            </a:pPr>
            <a:r>
              <a:rPr lang="en-US" sz="5054" spc="25">
                <a:solidFill>
                  <a:srgbClr val="2B2C30"/>
                </a:solidFill>
                <a:latin typeface="Arimo"/>
              </a:rPr>
              <a:t>A function generator is a electronic device that can produce a variety of different waveforms. The one we will build can output square, triangle, or sine waveforms. Like standard function generators.</a:t>
            </a:r>
          </a:p>
          <a:p>
            <a:pPr>
              <a:lnSpc>
                <a:spcPts val="6571"/>
              </a:lnSpc>
            </a:pPr>
            <a:endParaRPr lang="en-US" sz="5054" spc="25">
              <a:solidFill>
                <a:srgbClr val="2B2C30"/>
              </a:solidFill>
              <a:latin typeface="Arim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THE ROLE OF FUNCTION GENERATOR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764456" y="861169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OUR CIRCUIT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217199" y="1742079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332496" y="2551616"/>
            <a:ext cx="8615522" cy="3251644"/>
            <a:chOff x="0" y="0"/>
            <a:chExt cx="3260510" cy="12305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60510" cy="1230572"/>
            </a:xfrm>
            <a:custGeom>
              <a:avLst/>
              <a:gdLst/>
              <a:ahLst/>
              <a:cxnLst/>
              <a:rect l="l" t="t" r="r" b="b"/>
              <a:pathLst>
                <a:path w="3260510" h="1230572">
                  <a:moveTo>
                    <a:pt x="0" y="0"/>
                  </a:moveTo>
                  <a:lnTo>
                    <a:pt x="3260510" y="0"/>
                  </a:lnTo>
                  <a:lnTo>
                    <a:pt x="3260510" y="1230572"/>
                  </a:lnTo>
                  <a:lnTo>
                    <a:pt x="0" y="1230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260510" cy="1259147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51032" y="2692751"/>
            <a:ext cx="8378450" cy="2969375"/>
            <a:chOff x="0" y="0"/>
            <a:chExt cx="11171267" cy="3959166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t="2273" b="2273"/>
            <a:stretch>
              <a:fillRect/>
            </a:stretch>
          </p:blipFill>
          <p:spPr>
            <a:xfrm>
              <a:off x="0" y="0"/>
              <a:ext cx="11171267" cy="3959166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195224" y="2426795"/>
            <a:ext cx="7877184" cy="626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</a:rPr>
              <a:t>The circuit works on the principle of just using op amps.</a:t>
            </a:r>
          </a:p>
          <a:p>
            <a:pPr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</a:rPr>
              <a:t>The LM324 is a quad op amp, meaning it's composed of 4 independent op amps.</a:t>
            </a:r>
          </a:p>
          <a:p>
            <a:pPr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</a:rPr>
              <a:t>In this circuit, the first op amp produces a square wave. After that, the circuit uses 2 integrator circuits to convert the square wave into triangle and sine wave signals.</a:t>
            </a:r>
          </a:p>
          <a:p>
            <a:pPr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</a:rPr>
              <a:t>Below we show how to build the circuit.</a:t>
            </a:r>
          </a:p>
          <a:p>
            <a:pPr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</a:rPr>
              <a:t>but in this circuit we modify some value of capacitors to generate the signals accuratly</a:t>
            </a:r>
          </a:p>
          <a:p>
            <a:pPr>
              <a:lnSpc>
                <a:spcPts val="4199"/>
              </a:lnSpc>
            </a:pPr>
            <a:endParaRPr lang="en-US" sz="2799">
              <a:solidFill>
                <a:srgbClr val="2B2C30"/>
              </a:solidFill>
              <a:latin typeface="Public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764456" y="861169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OUR CIRCUIT WITH LM324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29343" y="2127528"/>
            <a:ext cx="15372403" cy="648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The LM324 is a quad operational amplifier IC that we use to build this integrator op amp circuit.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The LM324 is an 14-pin chip.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-</a:t>
            </a:r>
            <a:r>
              <a:rPr lang="en-US" sz="2480">
                <a:solidFill>
                  <a:srgbClr val="2B2C30"/>
                </a:solidFill>
                <a:latin typeface="Public Sans Bold"/>
              </a:rPr>
              <a:t>The pinout is relatively straightforward.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The LM324 has 2 power pins, pins 4 and 11.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Pin 4 is the positive voltage power supply, VCC. To this pin, we connect the positive voltage. This establishes the positive DC voltage rail for the circuit.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Pin 11, labeled GND, is the negative voltage power supply. To this pin, we connect the negative voltage. This establishes the negative DC voltage rail for the circuit.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Through these 2 pins, we establish the positive and negative DC rails from the AC signal can swing.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The LM324 can take in a maximum of up to 30V to pin 4, VCC.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All of the other 12 pins of the LM324 are the inputs or output of each of the operational amplifiers</a:t>
            </a:r>
          </a:p>
          <a:p>
            <a:pPr>
              <a:lnSpc>
                <a:spcPts val="3720"/>
              </a:lnSpc>
            </a:pPr>
            <a:endParaRPr lang="en-US" sz="2480">
              <a:solidFill>
                <a:srgbClr val="2B2C30"/>
              </a:solidFill>
              <a:latin typeface="Public Sans"/>
            </a:endParaRPr>
          </a:p>
          <a:p>
            <a:pPr>
              <a:lnSpc>
                <a:spcPts val="3720"/>
              </a:lnSpc>
            </a:pPr>
            <a:endParaRPr lang="en-US" sz="2480">
              <a:solidFill>
                <a:srgbClr val="2B2C30"/>
              </a:solidFill>
              <a:latin typeface="Public Sans"/>
            </a:endParaRPr>
          </a:p>
          <a:p>
            <a:pPr>
              <a:lnSpc>
                <a:spcPts val="3720"/>
              </a:lnSpc>
            </a:pPr>
            <a:endParaRPr lang="en-US" sz="2480">
              <a:solidFill>
                <a:srgbClr val="2B2C30"/>
              </a:solidFill>
              <a:latin typeface="Public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764456" y="861169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9003" y="858075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7" y="0"/>
                </a:lnTo>
                <a:lnTo>
                  <a:pt x="535737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784475" y="4294441"/>
            <a:ext cx="5917271" cy="5346167"/>
          </a:xfrm>
          <a:custGeom>
            <a:avLst/>
            <a:gdLst/>
            <a:ahLst/>
            <a:cxnLst/>
            <a:rect l="l" t="t" r="r" b="b"/>
            <a:pathLst>
              <a:path w="5917271" h="5346167">
                <a:moveTo>
                  <a:pt x="0" y="0"/>
                </a:moveTo>
                <a:lnTo>
                  <a:pt x="5917271" y="0"/>
                </a:lnTo>
                <a:lnTo>
                  <a:pt x="5917271" y="5346167"/>
                </a:lnTo>
                <a:lnTo>
                  <a:pt x="0" y="5346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OUR CIRCUIT WITH LM324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9343" y="2226124"/>
            <a:ext cx="15372403" cy="324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There are 4 operational amplifiers within the chip. Each op amp has 2 inputs and 1 output.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On the pinout above, the op amps are labeled 1, 2, 3, or 4.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The 2 inputs for each op amp are labeled IN- or IN+. The IN- pin refers to the inverting terminal of the op amp. The IN+ pin refers to the noninverting terminal of the op amp. The OUT terminal refers to the output of the op ap.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And this is breakdown of the LM324 chip.</a:t>
            </a:r>
          </a:p>
          <a:p>
            <a:pPr>
              <a:lnSpc>
                <a:spcPts val="3720"/>
              </a:lnSpc>
            </a:pPr>
            <a:endParaRPr lang="en-US" sz="2480">
              <a:solidFill>
                <a:srgbClr val="2B2C30"/>
              </a:solidFill>
              <a:latin typeface="Public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8658" y="864742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37471" y="865221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7" y="0"/>
                </a:lnTo>
                <a:lnTo>
                  <a:pt x="535737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OUR CIRCUIT WITH LM324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97674" y="2216599"/>
            <a:ext cx="10621620" cy="5922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36"/>
              </a:lnSpc>
            </a:pPr>
            <a:r>
              <a:rPr lang="en-US" sz="2957" dirty="0">
                <a:solidFill>
                  <a:srgbClr val="2B2C30"/>
                </a:solidFill>
                <a:latin typeface="Public Sans Bold"/>
              </a:rPr>
              <a:t>Our Components</a:t>
            </a: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US" sz="2957" dirty="0">
                <a:solidFill>
                  <a:srgbClr val="2B2C30"/>
                </a:solidFill>
                <a:latin typeface="Public Sans Bold"/>
              </a:rPr>
              <a:t>LM324 op amp chip</a:t>
            </a: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AS" sz="2957" dirty="0">
                <a:solidFill>
                  <a:srgbClr val="2B2C30"/>
                </a:solidFill>
                <a:latin typeface="Public Sans Bold"/>
              </a:rPr>
              <a:t>1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 10KΩ resistors</a:t>
            </a: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AS" sz="2957" dirty="0">
                <a:solidFill>
                  <a:srgbClr val="2B2C30"/>
                </a:solidFill>
                <a:latin typeface="Public Sans Bold"/>
              </a:rPr>
              <a:t>4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 100KΩ resistors</a:t>
            </a: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AS" sz="2957" dirty="0">
                <a:solidFill>
                  <a:srgbClr val="2B2C30"/>
                </a:solidFill>
                <a:latin typeface="Public Sans Bold"/>
              </a:rPr>
              <a:t> 3 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22KΩ resistor</a:t>
            </a: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US" sz="2957" dirty="0">
                <a:solidFill>
                  <a:srgbClr val="2B2C30"/>
                </a:solidFill>
                <a:latin typeface="Public Sans Bold"/>
              </a:rPr>
              <a:t>300KΩ  and 560KΩresistor</a:t>
            </a: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AS" sz="2957" dirty="0">
                <a:solidFill>
                  <a:srgbClr val="2B2C30"/>
                </a:solidFill>
                <a:latin typeface="Public Sans Bold"/>
              </a:rPr>
              <a:t>0.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1μF  and </a:t>
            </a:r>
            <a:r>
              <a:rPr lang="en-AS" sz="2957" dirty="0">
                <a:solidFill>
                  <a:srgbClr val="2B2C30"/>
                </a:solidFill>
                <a:latin typeface="Public Sans Bold"/>
              </a:rPr>
              <a:t>0.0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 1μF</a:t>
            </a:r>
            <a:r>
              <a:rPr lang="en-AS" sz="2957" dirty="0">
                <a:solidFill>
                  <a:srgbClr val="2B2C30"/>
                </a:solidFill>
                <a:latin typeface="Public Sans Bold"/>
              </a:rPr>
              <a:t> ceramic </a:t>
            </a:r>
            <a:r>
              <a:rPr lang="en-US" sz="2957" dirty="0">
                <a:solidFill>
                  <a:srgbClr val="2B2C30"/>
                </a:solidFill>
                <a:latin typeface="Public Sans Bold"/>
              </a:rPr>
              <a:t>capacitor</a:t>
            </a:r>
          </a:p>
          <a:p>
            <a:pPr marL="638566" lvl="1" indent="-319283">
              <a:lnSpc>
                <a:spcPts val="4436"/>
              </a:lnSpc>
              <a:buFont typeface="Arial"/>
              <a:buChar char="•"/>
            </a:pPr>
            <a:r>
              <a:rPr lang="en-US" sz="2957" dirty="0">
                <a:solidFill>
                  <a:srgbClr val="2B2C30"/>
                </a:solidFill>
                <a:latin typeface="Public Sans Bold"/>
              </a:rPr>
              <a:t>100KΩ potentiometer</a:t>
            </a:r>
          </a:p>
          <a:p>
            <a:pPr>
              <a:lnSpc>
                <a:spcPts val="4436"/>
              </a:lnSpc>
            </a:pPr>
            <a:endParaRPr lang="en-US" sz="2957" dirty="0">
              <a:solidFill>
                <a:srgbClr val="2B2C30"/>
              </a:solidFill>
              <a:latin typeface="Public Sans Bold"/>
            </a:endParaRPr>
          </a:p>
          <a:p>
            <a:pPr>
              <a:lnSpc>
                <a:spcPts val="4436"/>
              </a:lnSpc>
            </a:pPr>
            <a:endParaRPr lang="en-US" sz="2957" dirty="0">
              <a:solidFill>
                <a:srgbClr val="2B2C30"/>
              </a:solidFill>
              <a:latin typeface="Public Sans Bold"/>
            </a:endParaRPr>
          </a:p>
          <a:p>
            <a:pPr>
              <a:lnSpc>
                <a:spcPts val="2571"/>
              </a:lnSpc>
            </a:pPr>
            <a:endParaRPr lang="en-US" sz="2957" dirty="0">
              <a:solidFill>
                <a:srgbClr val="2B2C30"/>
              </a:solidFill>
              <a:latin typeface="Public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054142" y="864742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9003" y="858075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7" y="0"/>
                </a:lnTo>
                <a:lnTo>
                  <a:pt x="535737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83851" y="449940"/>
            <a:ext cx="16520297" cy="131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FUNCTION GENERATOR CIRCUIT BUILT WITH AN LM324 CHIP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9343" y="2226124"/>
            <a:ext cx="15372403" cy="1391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0"/>
              </a:lnSpc>
            </a:pPr>
            <a:endParaRPr/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 Bold"/>
              </a:rPr>
              <a:t>The function generator circuit we will build with an LM324 op amp chip is shown below</a:t>
            </a:r>
          </a:p>
          <a:p>
            <a:pPr>
              <a:lnSpc>
                <a:spcPts val="3720"/>
              </a:lnSpc>
            </a:pPr>
            <a:endParaRPr lang="en-US" sz="2480">
              <a:solidFill>
                <a:srgbClr val="2B2C30"/>
              </a:solidFill>
              <a:latin typeface="Public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8658" y="864742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  <p:pic>
        <p:nvPicPr>
          <p:cNvPr id="13" name="Picture 12" descr="A computer screen shot of a computer screen&#10;&#10;Description automatically generated">
            <a:extLst>
              <a:ext uri="{FF2B5EF4-FFF2-40B4-BE49-F238E27FC236}">
                <a16:creationId xmlns:a16="http://schemas.microsoft.com/office/drawing/2014/main" id="{CE9D64C1-3750-B3DE-2E6D-D484941509C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7" t="17117" r="17084" b="24448"/>
          <a:stretch/>
        </p:blipFill>
        <p:spPr>
          <a:xfrm>
            <a:off x="3643444" y="3368523"/>
            <a:ext cx="10744200" cy="6011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9003" y="858075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7" y="0"/>
                </a:lnTo>
                <a:lnTo>
                  <a:pt x="535737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83851" y="449940"/>
            <a:ext cx="16520297" cy="131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FUNCTION GENERATOR CIRCUIT BUILT WITH AN LM324 CHIP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9343" y="2226124"/>
            <a:ext cx="15372403" cy="1391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0"/>
              </a:lnSpc>
            </a:pPr>
            <a:endParaRPr/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 Bold"/>
              </a:rPr>
              <a:t>The function generator circuit we will build with an LM324 op amp chip is shown below</a:t>
            </a:r>
          </a:p>
          <a:p>
            <a:pPr>
              <a:lnSpc>
                <a:spcPts val="3720"/>
              </a:lnSpc>
            </a:pPr>
            <a:endParaRPr lang="en-US" sz="2480">
              <a:solidFill>
                <a:srgbClr val="2B2C30"/>
              </a:solidFill>
              <a:latin typeface="Public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8658" y="864742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EC8323C0-D2A0-55C6-B8AC-4832FBAB35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3" t="12963" r="15942" b="11864"/>
          <a:stretch/>
        </p:blipFill>
        <p:spPr>
          <a:xfrm>
            <a:off x="5257800" y="3238500"/>
            <a:ext cx="10859149" cy="63797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EXPLAIN OUR CIRCUIT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29343" y="2127528"/>
            <a:ext cx="15372403" cy="788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So the first concern is power to the circuit.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As explained above, the LM324 is powered by DC voltage through pins 4 and 11.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We feed anywhere from 5 to 15V into pin 4, VCC, and we feed anywhere from -5V to -15V to pin 11, GND.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This establishes sufficient power to the circuit so that it can operate.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So we have our first op amp. This op amp produces a square waveform. The 100KΩ potentiometer allows us to vary the frequency to the circuit. And it's the way of adjusting the frequency of the output signal.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So after the first op amp, we have a square waveform. What follows next is an integrator circuit. When you feed a square waveform into an integrator circuit, the output is a triangle waveform.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So after the second op amp, we now have a triangle waveform, as our second waveform.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We then feed this triangle waveform into another integrator circuit. When you feed a triangle waveform into an integrator circuit, the output is a sine waveform.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So after the third op amp, we have a sine waveform. This is our third waveform.</a:t>
            </a:r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"/>
              </a:rPr>
              <a:t>So this circuit is pretty basic. The first op amp produces a square wave. We feed this square wave into an integrator circuit, which outputs a triangle wave. We then feed this triangle wave into a second integrator circuit, which outputs a sine wave.</a:t>
            </a:r>
          </a:p>
          <a:p>
            <a:pPr>
              <a:lnSpc>
                <a:spcPts val="3720"/>
              </a:lnSpc>
            </a:pPr>
            <a:endParaRPr lang="en-US" sz="2480">
              <a:solidFill>
                <a:srgbClr val="2B2C30"/>
              </a:solidFill>
              <a:latin typeface="Public Sans"/>
            </a:endParaRPr>
          </a:p>
          <a:p>
            <a:pPr>
              <a:lnSpc>
                <a:spcPts val="3720"/>
              </a:lnSpc>
            </a:pPr>
            <a:endParaRPr lang="en-US" sz="2480">
              <a:solidFill>
                <a:srgbClr val="2B2C30"/>
              </a:solidFill>
              <a:latin typeface="Public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764456" y="861169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9003" y="858075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7" y="0"/>
                </a:lnTo>
                <a:lnTo>
                  <a:pt x="535737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83851" y="449940"/>
            <a:ext cx="16520297" cy="1305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</a:rPr>
              <a:t>FUNCTION GENERATOR CIRCUIT BUILT WITH AN LM324 CHIP,</a:t>
            </a:r>
            <a:r>
              <a:rPr lang="en-US" sz="3714" spc="843">
                <a:solidFill>
                  <a:srgbClr val="FF3131"/>
                </a:solidFill>
                <a:latin typeface="Public Sans Bold"/>
              </a:rPr>
              <a:t>THE BREADBOARD</a:t>
            </a:r>
            <a:r>
              <a:rPr lang="en-US" sz="3714" spc="843">
                <a:solidFill>
                  <a:srgbClr val="2B2C30"/>
                </a:solidFill>
                <a:latin typeface="Public Sans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9343" y="2226124"/>
            <a:ext cx="15372403" cy="1391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0"/>
              </a:lnSpc>
            </a:pPr>
            <a:endParaRPr/>
          </a:p>
          <a:p>
            <a:pPr>
              <a:lnSpc>
                <a:spcPts val="3720"/>
              </a:lnSpc>
            </a:pPr>
            <a:r>
              <a:rPr lang="en-US" sz="2480">
                <a:solidFill>
                  <a:srgbClr val="2B2C30"/>
                </a:solidFill>
                <a:latin typeface="Public Sans Bold"/>
              </a:rPr>
              <a:t>The function generator circuit we will build with an LM324 op amp chip is shown below</a:t>
            </a:r>
          </a:p>
          <a:p>
            <a:pPr>
              <a:lnSpc>
                <a:spcPts val="3720"/>
              </a:lnSpc>
            </a:pPr>
            <a:endParaRPr lang="en-US" sz="2480">
              <a:solidFill>
                <a:srgbClr val="2B2C30"/>
              </a:solidFill>
              <a:latin typeface="Public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8658" y="8647426"/>
            <a:ext cx="2205158" cy="73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Arimo"/>
              </a:rPr>
              <a:t>Function generator</a:t>
            </a:r>
          </a:p>
        </p:txBody>
      </p:sp>
      <p:pic>
        <p:nvPicPr>
          <p:cNvPr id="5" name="Picture 4" descr="A white circuit board with wires&#10;&#10;Description automatically generated">
            <a:extLst>
              <a:ext uri="{FF2B5EF4-FFF2-40B4-BE49-F238E27FC236}">
                <a16:creationId xmlns:a16="http://schemas.microsoft.com/office/drawing/2014/main" id="{A00E11AE-2D1A-0DB4-07C1-F5B92C82E2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771900"/>
            <a:ext cx="7186279" cy="4427851"/>
          </a:xfrm>
          <a:prstGeom prst="rect">
            <a:avLst/>
          </a:prstGeom>
        </p:spPr>
      </p:pic>
      <p:pic>
        <p:nvPicPr>
          <p:cNvPr id="10" name="Picture 9" descr="A circuit board with wires&#10;&#10;Description automatically generated">
            <a:extLst>
              <a:ext uri="{FF2B5EF4-FFF2-40B4-BE49-F238E27FC236}">
                <a16:creationId xmlns:a16="http://schemas.microsoft.com/office/drawing/2014/main" id="{A33FFB82-BB4D-76D6-8356-5076E1582C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3648238"/>
            <a:ext cx="7283187" cy="54623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914</Words>
  <Application>Microsoft Office PowerPoint</Application>
  <PresentationFormat>Custom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Public Sans Bold</vt:lpstr>
      <vt:lpstr>Public Sans</vt:lpstr>
      <vt:lpstr>Arimo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Neutral Minimalist New Business Pitch Deck Presentation</dc:title>
  <dc:creator>Aya Mohamed</dc:creator>
  <cp:lastModifiedBy>ايه محمد سيد حامد</cp:lastModifiedBy>
  <cp:revision>4</cp:revision>
  <dcterms:created xsi:type="dcterms:W3CDTF">2006-08-16T00:00:00Z</dcterms:created>
  <dcterms:modified xsi:type="dcterms:W3CDTF">2023-12-17T08:14:31Z</dcterms:modified>
  <dc:identifier>DAF2aDilTto</dc:identifier>
</cp:coreProperties>
</file>