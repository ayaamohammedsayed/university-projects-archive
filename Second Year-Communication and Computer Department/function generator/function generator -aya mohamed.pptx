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5" r:id="rId7"/>
    <p:sldId id="264" r:id="rId8"/>
    <p:sldId id="267" r:id="rId9"/>
  </p:sldIdLst>
  <p:sldSz cx="18288000" cy="10287000"/>
  <p:notesSz cx="6858000" cy="9144000"/>
  <p:embeddedFontLst>
    <p:embeddedFont>
      <p:font typeface="Arimo" panose="020B0604020202020204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Public Sans" panose="020B0604020202020204" charset="0"/>
      <p:regular r:id="rId15"/>
    </p:embeddedFont>
    <p:embeddedFont>
      <p:font typeface="Public Sa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6882" y="655198"/>
            <a:ext cx="933701" cy="933701"/>
          </a:xfrm>
          <a:custGeom>
            <a:avLst/>
            <a:gdLst/>
            <a:ahLst/>
            <a:cxnLst/>
            <a:rect l="l" t="t" r="r" b="b"/>
            <a:pathLst>
              <a:path w="933701" h="933701">
                <a:moveTo>
                  <a:pt x="0" y="0"/>
                </a:moveTo>
                <a:lnTo>
                  <a:pt x="933701" y="0"/>
                </a:lnTo>
                <a:lnTo>
                  <a:pt x="933701" y="933701"/>
                </a:lnTo>
                <a:lnTo>
                  <a:pt x="0" y="933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06882" y="4728792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SELF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6364" y="2227074"/>
            <a:ext cx="18664748" cy="2025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89"/>
              </a:lnSpc>
            </a:pPr>
            <a:r>
              <a:rPr lang="en-US" sz="15812" spc="79">
                <a:solidFill>
                  <a:srgbClr val="2B2C30"/>
                </a:solidFill>
                <a:latin typeface="Arimo"/>
              </a:rPr>
              <a:t>Function generator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407" y="7602855"/>
            <a:ext cx="7862435" cy="1741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</a:rPr>
              <a:t>Aya Mohamed Sayed</a:t>
            </a:r>
          </a:p>
          <a:p>
            <a:pPr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</a:rPr>
              <a:t>Sec 1 </a:t>
            </a:r>
          </a:p>
          <a:p>
            <a:pPr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</a:rPr>
              <a:t>B.No 9</a:t>
            </a:r>
          </a:p>
          <a:p>
            <a:pPr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</a:rPr>
              <a:t>Shubra faculty of engineering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266679" y="8389564"/>
            <a:ext cx="3588501" cy="128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97"/>
              </a:lnSpc>
            </a:pPr>
            <a:r>
              <a:rPr lang="en-US" sz="5272" spc="26">
                <a:solidFill>
                  <a:srgbClr val="2B2C30"/>
                </a:solidFill>
                <a:latin typeface="Arimo"/>
              </a:rPr>
              <a:t>Dr.Tarek Elewa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48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FF3131"/>
                </a:solidFill>
                <a:latin typeface="Public Sans Bold"/>
              </a:rPr>
              <a:t>OUR TOPICS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689" y="2122290"/>
            <a:ext cx="7877184" cy="4552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spc="13">
                <a:solidFill>
                  <a:srgbClr val="2B2C30"/>
                </a:solidFill>
                <a:latin typeface="Public Sans"/>
              </a:rPr>
              <a:t>Define what is function generator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spc="13">
                <a:solidFill>
                  <a:srgbClr val="2B2C30"/>
                </a:solidFill>
                <a:latin typeface="Public Sans"/>
              </a:rPr>
              <a:t>The role of Function generator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spc="13">
                <a:solidFill>
                  <a:srgbClr val="2B2C30"/>
                </a:solidFill>
                <a:latin typeface="Public Sans"/>
              </a:rPr>
              <a:t>Our circuit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spc="13">
                <a:solidFill>
                  <a:srgbClr val="2B2C30"/>
                </a:solidFill>
                <a:latin typeface="Public Sans"/>
              </a:rPr>
              <a:t>Explain the circuit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spc="13">
                <a:solidFill>
                  <a:srgbClr val="2B2C30"/>
                </a:solidFill>
                <a:latin typeface="Public Sans"/>
              </a:rPr>
              <a:t>Components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spc="13">
                <a:solidFill>
                  <a:srgbClr val="2B2C30"/>
                </a:solidFill>
                <a:latin typeface="Public Sans"/>
              </a:rPr>
              <a:t>The breadboard of circuit</a:t>
            </a:r>
          </a:p>
          <a:p>
            <a:pPr>
              <a:lnSpc>
                <a:spcPts val="5235"/>
              </a:lnSpc>
            </a:pPr>
            <a:endParaRPr lang="en-US" sz="2799" spc="13">
              <a:solidFill>
                <a:srgbClr val="2B2C30"/>
              </a:solidFill>
              <a:latin typeface="Public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496588" y="861169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06871" y="2565693"/>
            <a:ext cx="14569153" cy="605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97"/>
              </a:lnSpc>
            </a:pPr>
            <a:r>
              <a:rPr lang="en-US" sz="4613" spc="23">
                <a:solidFill>
                  <a:srgbClr val="2B2C30"/>
                </a:solidFill>
                <a:latin typeface="Arimo"/>
              </a:rPr>
              <a:t>Definition: Function Generator is basically a signal generator that produces different types of waveforms at the output. It has the ability to produce waveforms such as sine wave, square wave, a triangular wave, sawtooth wave etc. An adjustable frequency range is provided by the function generator which is in the range of some Hz to several 100KHz</a:t>
            </a:r>
          </a:p>
          <a:p>
            <a:pPr>
              <a:lnSpc>
                <a:spcPts val="5997"/>
              </a:lnSpc>
            </a:pPr>
            <a:endParaRPr lang="en-US" sz="4613" spc="23">
              <a:solidFill>
                <a:srgbClr val="2B2C30"/>
              </a:solidFill>
              <a:latin typeface="Arim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WHAT IS FUNCTION GENERATOR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764456" y="861169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06871" y="2556168"/>
            <a:ext cx="15962743" cy="414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71"/>
              </a:lnSpc>
            </a:pPr>
            <a:r>
              <a:rPr lang="en-US" sz="5054" spc="25">
                <a:solidFill>
                  <a:srgbClr val="2B2C30"/>
                </a:solidFill>
                <a:latin typeface="Arimo"/>
              </a:rPr>
              <a:t>A function generator is a electronic device that can produce a variety of different waveforms. The one we will build can output square, triangle, or sine waveforms. Like standard function generators.</a:t>
            </a:r>
          </a:p>
          <a:p>
            <a:pPr>
              <a:lnSpc>
                <a:spcPts val="6571"/>
              </a:lnSpc>
            </a:pPr>
            <a:endParaRPr lang="en-US" sz="5054" spc="25">
              <a:solidFill>
                <a:srgbClr val="2B2C30"/>
              </a:solidFill>
              <a:latin typeface="Arim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THE ROLE OF FUNCTION GENERATOR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764456" y="861169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37471" y="865221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7" y="0"/>
                </a:lnTo>
                <a:lnTo>
                  <a:pt x="535737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OUR CIRCUIT WITH LM324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97674" y="2216599"/>
            <a:ext cx="10621620" cy="5979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36"/>
              </a:lnSpc>
            </a:pPr>
            <a:r>
              <a:rPr lang="en-US" sz="2957" dirty="0">
                <a:solidFill>
                  <a:srgbClr val="2B2C30"/>
                </a:solidFill>
                <a:latin typeface="Public Sans Bold"/>
              </a:rPr>
              <a:t>Our Components</a:t>
            </a:r>
          </a:p>
          <a:p>
            <a:pPr marL="638566" lvl="1" indent="-319283">
              <a:lnSpc>
                <a:spcPts val="4436"/>
              </a:lnSpc>
              <a:buFont typeface="Arial"/>
              <a:buChar char="•"/>
            </a:pPr>
            <a:r>
              <a:rPr lang="en-AS" sz="2957" dirty="0">
                <a:solidFill>
                  <a:srgbClr val="2B2C30"/>
                </a:solidFill>
                <a:latin typeface="Public Sans Bold"/>
              </a:rPr>
              <a:t>IC555</a:t>
            </a:r>
            <a:endParaRPr lang="en-US" sz="2957" dirty="0">
              <a:solidFill>
                <a:srgbClr val="2B2C30"/>
              </a:solidFill>
              <a:latin typeface="Public Sans Bold"/>
            </a:endParaRPr>
          </a:p>
          <a:p>
            <a:pPr marL="638566" lvl="1" indent="-319283">
              <a:lnSpc>
                <a:spcPts val="4436"/>
              </a:lnSpc>
              <a:buFont typeface="Arial"/>
              <a:buChar char="•"/>
            </a:pPr>
            <a:r>
              <a:rPr lang="en-AS" sz="2957" dirty="0">
                <a:solidFill>
                  <a:srgbClr val="2B2C30"/>
                </a:solidFill>
                <a:latin typeface="Public Sans Bold"/>
              </a:rPr>
              <a:t>1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 </a:t>
            </a:r>
            <a:r>
              <a:rPr lang="en-AS" sz="2957" dirty="0">
                <a:solidFill>
                  <a:srgbClr val="2B2C30"/>
                </a:solidFill>
                <a:latin typeface="Public Sans Bold"/>
              </a:rPr>
              <a:t>560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Ω resistors</a:t>
            </a:r>
          </a:p>
          <a:p>
            <a:pPr marL="638566" lvl="1" indent="-319283">
              <a:lnSpc>
                <a:spcPts val="4436"/>
              </a:lnSpc>
              <a:buFont typeface="Arial"/>
              <a:buChar char="•"/>
            </a:pPr>
            <a:r>
              <a:rPr lang="en-US" sz="2957" dirty="0">
                <a:solidFill>
                  <a:srgbClr val="2B2C30"/>
                </a:solidFill>
                <a:latin typeface="Public Sans Bold"/>
              </a:rPr>
              <a:t> 1KΩ resistors</a:t>
            </a:r>
            <a:endParaRPr lang="en-AS" sz="2957" dirty="0">
              <a:solidFill>
                <a:srgbClr val="2B2C30"/>
              </a:solidFill>
              <a:latin typeface="Public Sans Bold"/>
            </a:endParaRPr>
          </a:p>
          <a:p>
            <a:pPr marL="638566" lvl="1" indent="-319283">
              <a:lnSpc>
                <a:spcPts val="4436"/>
              </a:lnSpc>
              <a:buFont typeface="Arial"/>
              <a:buChar char="•"/>
            </a:pPr>
            <a:r>
              <a:rPr lang="en-AS" sz="2957" dirty="0">
                <a:solidFill>
                  <a:srgbClr val="2B2C30"/>
                </a:solidFill>
                <a:latin typeface="Public Sans Bold"/>
              </a:rPr>
              <a:t>10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KΩ resistors</a:t>
            </a:r>
            <a:r>
              <a:rPr lang="en-AS" sz="2957" dirty="0">
                <a:solidFill>
                  <a:srgbClr val="2B2C30"/>
                </a:solidFill>
                <a:latin typeface="Public Sans Bold"/>
              </a:rPr>
              <a:t>, 6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2KΩ resistor</a:t>
            </a:r>
          </a:p>
          <a:p>
            <a:pPr marL="638566" lvl="1" indent="-319283">
              <a:lnSpc>
                <a:spcPts val="4436"/>
              </a:lnSpc>
              <a:buFont typeface="Arial"/>
              <a:buChar char="•"/>
            </a:pPr>
            <a:r>
              <a:rPr lang="en-AS" sz="2957" dirty="0">
                <a:solidFill>
                  <a:srgbClr val="2B2C30"/>
                </a:solidFill>
                <a:latin typeface="Public Sans Bold"/>
              </a:rPr>
              <a:t>0.1</a:t>
            </a:r>
            <a:r>
              <a:rPr lang="en-US" sz="2957" dirty="0" err="1">
                <a:solidFill>
                  <a:srgbClr val="2B2C30"/>
                </a:solidFill>
                <a:latin typeface="Public Sans Bold"/>
              </a:rPr>
              <a:t>μF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 </a:t>
            </a:r>
            <a:r>
              <a:rPr lang="en-AS" sz="2957" dirty="0">
                <a:solidFill>
                  <a:srgbClr val="2B2C30"/>
                </a:solidFill>
                <a:latin typeface="Public Sans Bold"/>
              </a:rPr>
              <a:t> ,0.01</a:t>
            </a:r>
            <a:r>
              <a:rPr lang="en-US" sz="2957" dirty="0" err="1">
                <a:solidFill>
                  <a:srgbClr val="2B2C30"/>
                </a:solidFill>
                <a:latin typeface="Public Sans Bold"/>
              </a:rPr>
              <a:t>μF</a:t>
            </a:r>
            <a:r>
              <a:rPr lang="en-AS" sz="2957" dirty="0">
                <a:solidFill>
                  <a:srgbClr val="2B2C30"/>
                </a:solidFill>
                <a:latin typeface="Public Sans Bold"/>
              </a:rPr>
              <a:t>, 10</a:t>
            </a:r>
            <a:r>
              <a:rPr lang="en-US" sz="2957" dirty="0" err="1">
                <a:solidFill>
                  <a:srgbClr val="2B2C30"/>
                </a:solidFill>
                <a:latin typeface="Public Sans Bold"/>
              </a:rPr>
              <a:t>μF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 </a:t>
            </a:r>
            <a:r>
              <a:rPr lang="en-AS" sz="2957" dirty="0">
                <a:solidFill>
                  <a:srgbClr val="2B2C30"/>
                </a:solidFill>
                <a:latin typeface="Public Sans Bold"/>
              </a:rPr>
              <a:t>, 0.47</a:t>
            </a:r>
            <a:r>
              <a:rPr lang="en-US" sz="2957" dirty="0" err="1">
                <a:solidFill>
                  <a:srgbClr val="2B2C30"/>
                </a:solidFill>
                <a:latin typeface="Public Sans Bold"/>
              </a:rPr>
              <a:t>μF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 and </a:t>
            </a:r>
            <a:r>
              <a:rPr lang="en-AS" sz="2957" dirty="0">
                <a:solidFill>
                  <a:srgbClr val="2B2C30"/>
                </a:solidFill>
                <a:latin typeface="Public Sans Bold"/>
              </a:rPr>
              <a:t>100</a:t>
            </a:r>
            <a:r>
              <a:rPr lang="en-US" sz="2957" dirty="0" err="1">
                <a:solidFill>
                  <a:srgbClr val="2B2C30"/>
                </a:solidFill>
                <a:latin typeface="Public Sans Bold"/>
              </a:rPr>
              <a:t>μF</a:t>
            </a:r>
            <a:r>
              <a:rPr lang="en-AS" sz="2957" dirty="0">
                <a:solidFill>
                  <a:srgbClr val="2B2C30"/>
                </a:solidFill>
                <a:latin typeface="Public Sans Bold"/>
              </a:rPr>
              <a:t> ceramic 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capacitor</a:t>
            </a:r>
          </a:p>
          <a:p>
            <a:pPr marL="638566" lvl="1" indent="-319283">
              <a:lnSpc>
                <a:spcPts val="4436"/>
              </a:lnSpc>
              <a:buFont typeface="Arial"/>
              <a:buChar char="•"/>
            </a:pPr>
            <a:r>
              <a:rPr lang="en-AS" sz="2957" dirty="0">
                <a:solidFill>
                  <a:srgbClr val="2B2C30"/>
                </a:solidFill>
                <a:latin typeface="Public Sans Bold"/>
              </a:rPr>
              <a:t>20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KΩ potentiometer</a:t>
            </a:r>
          </a:p>
          <a:p>
            <a:pPr>
              <a:lnSpc>
                <a:spcPts val="4436"/>
              </a:lnSpc>
            </a:pPr>
            <a:endParaRPr lang="en-US" sz="2957" dirty="0">
              <a:solidFill>
                <a:srgbClr val="2B2C30"/>
              </a:solidFill>
              <a:latin typeface="Public Sans Bold"/>
            </a:endParaRPr>
          </a:p>
          <a:p>
            <a:pPr>
              <a:lnSpc>
                <a:spcPts val="4436"/>
              </a:lnSpc>
            </a:pPr>
            <a:endParaRPr lang="en-US" sz="2957" dirty="0">
              <a:solidFill>
                <a:srgbClr val="2B2C30"/>
              </a:solidFill>
              <a:latin typeface="Public Sans Bold"/>
            </a:endParaRPr>
          </a:p>
          <a:p>
            <a:pPr>
              <a:lnSpc>
                <a:spcPts val="2571"/>
              </a:lnSpc>
            </a:pPr>
            <a:endParaRPr lang="en-US" sz="2957" dirty="0">
              <a:solidFill>
                <a:srgbClr val="2B2C30"/>
              </a:solidFill>
              <a:latin typeface="Public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054142" y="864742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9003" y="858075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7" y="0"/>
                </a:lnTo>
                <a:lnTo>
                  <a:pt x="535737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83851" y="449940"/>
            <a:ext cx="16520297" cy="131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 dirty="0">
                <a:solidFill>
                  <a:srgbClr val="2B2C30"/>
                </a:solidFill>
                <a:latin typeface="Public Sans Bold"/>
              </a:rPr>
              <a:t>FUNCTION GENERATOR CIRCUIT BUILT WITH AN </a:t>
            </a:r>
            <a:r>
              <a:rPr lang="en-AS" sz="3714" spc="843" dirty="0">
                <a:solidFill>
                  <a:srgbClr val="2B2C30"/>
                </a:solidFill>
                <a:latin typeface="Public Sans Bold"/>
              </a:rPr>
              <a:t>IC555 </a:t>
            </a:r>
            <a:r>
              <a:rPr lang="en-US" sz="3714" spc="843" dirty="0">
                <a:solidFill>
                  <a:srgbClr val="2B2C30"/>
                </a:solidFill>
                <a:latin typeface="Public Sans Bold"/>
              </a:rPr>
              <a:t> CHIP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9343" y="2226124"/>
            <a:ext cx="15372403" cy="1391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20"/>
              </a:lnSpc>
            </a:pPr>
            <a:endParaRPr dirty="0"/>
          </a:p>
          <a:p>
            <a:pPr>
              <a:lnSpc>
                <a:spcPts val="3720"/>
              </a:lnSpc>
            </a:pPr>
            <a:r>
              <a:rPr lang="en-US" sz="2480" dirty="0">
                <a:solidFill>
                  <a:srgbClr val="2B2C30"/>
                </a:solidFill>
                <a:latin typeface="Public Sans Bold"/>
              </a:rPr>
              <a:t>The function generator circuit we will build with an</a:t>
            </a:r>
            <a:r>
              <a:rPr lang="en-AS" sz="2480" dirty="0">
                <a:solidFill>
                  <a:srgbClr val="2B2C30"/>
                </a:solidFill>
                <a:latin typeface="Public Sans Bold"/>
              </a:rPr>
              <a:t> IC555 </a:t>
            </a:r>
            <a:r>
              <a:rPr lang="en-US" sz="2480" dirty="0">
                <a:solidFill>
                  <a:srgbClr val="2B2C30"/>
                </a:solidFill>
                <a:latin typeface="Public Sans Bold"/>
              </a:rPr>
              <a:t> op amp chip is shown below</a:t>
            </a:r>
          </a:p>
          <a:p>
            <a:pPr>
              <a:lnSpc>
                <a:spcPts val="3720"/>
              </a:lnSpc>
            </a:pPr>
            <a:endParaRPr lang="en-US" sz="2480" dirty="0">
              <a:solidFill>
                <a:srgbClr val="2B2C30"/>
              </a:solidFill>
              <a:latin typeface="Public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8658" y="864742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  <p:pic>
        <p:nvPicPr>
          <p:cNvPr id="8" name="Picture 7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1DC8E359-D643-3944-3F4B-FFCE6EFB87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6" t="13704" r="5625" b="12222"/>
          <a:stretch/>
        </p:blipFill>
        <p:spPr>
          <a:xfrm>
            <a:off x="3683816" y="3385260"/>
            <a:ext cx="12034684" cy="58849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9003" y="858075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7" y="0"/>
                </a:lnTo>
                <a:lnTo>
                  <a:pt x="535737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83851" y="449940"/>
            <a:ext cx="16520297" cy="127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14" b="0" i="0" u="none" strike="noStrike" kern="1200" cap="none" spc="843" normalizeH="0" baseline="0" noProof="0" dirty="0">
                <a:ln>
                  <a:noFill/>
                </a:ln>
                <a:solidFill>
                  <a:srgbClr val="2B2C30"/>
                </a:solidFill>
                <a:effectLst/>
                <a:uLnTx/>
                <a:uFillTx/>
                <a:latin typeface="Public Sans Bold"/>
                <a:ea typeface="+mn-ea"/>
                <a:cs typeface="+mn-cs"/>
              </a:rPr>
              <a:t>FUNCTION GENERATOR CIRCUIT BUILT WITH AN </a:t>
            </a:r>
            <a:r>
              <a:rPr kumimoji="0" lang="en-AS" sz="3714" b="0" i="0" u="none" strike="noStrike" kern="1200" cap="none" spc="843" normalizeH="0" baseline="0" noProof="0" dirty="0">
                <a:ln>
                  <a:noFill/>
                </a:ln>
                <a:solidFill>
                  <a:srgbClr val="2B2C30"/>
                </a:solidFill>
                <a:effectLst/>
                <a:uLnTx/>
                <a:uFillTx/>
                <a:latin typeface="Public Sans Bold"/>
                <a:ea typeface="+mn-ea"/>
                <a:cs typeface="+mn-cs"/>
              </a:rPr>
              <a:t>IC555 </a:t>
            </a:r>
            <a:r>
              <a:rPr kumimoji="0" lang="en-US" sz="3714" b="0" i="0" u="none" strike="noStrike" kern="1200" cap="none" spc="843" normalizeH="0" baseline="0" noProof="0" dirty="0">
                <a:ln>
                  <a:noFill/>
                </a:ln>
                <a:solidFill>
                  <a:srgbClr val="2B2C30"/>
                </a:solidFill>
                <a:effectLst/>
                <a:uLnTx/>
                <a:uFillTx/>
                <a:latin typeface="Public Sans Bold"/>
                <a:ea typeface="+mn-ea"/>
                <a:cs typeface="+mn-cs"/>
              </a:rPr>
              <a:t> CHIP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9343" y="2226124"/>
            <a:ext cx="15372403" cy="1391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80" b="0" i="0" u="none" strike="noStrike" kern="1200" cap="none" spc="0" normalizeH="0" baseline="0" noProof="0" dirty="0">
                <a:ln>
                  <a:noFill/>
                </a:ln>
                <a:solidFill>
                  <a:srgbClr val="2B2C30"/>
                </a:solidFill>
                <a:effectLst/>
                <a:uLnTx/>
                <a:uFillTx/>
                <a:latin typeface="Public Sans Bold"/>
                <a:ea typeface="+mn-ea"/>
                <a:cs typeface="+mn-cs"/>
              </a:rPr>
              <a:t>The function generator circuit we will build with an IC555  op amp chip is shown below</a:t>
            </a:r>
          </a:p>
          <a:p>
            <a:pPr marL="0" marR="0" lvl="0" indent="0" algn="l" defTabSz="914400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80" b="0" i="0" u="none" strike="noStrike" kern="1200" cap="none" spc="0" normalizeH="0" baseline="0" noProof="0" dirty="0">
              <a:ln>
                <a:noFill/>
              </a:ln>
              <a:solidFill>
                <a:srgbClr val="2B2C30"/>
              </a:solidFill>
              <a:effectLst/>
              <a:uLnTx/>
              <a:uFillTx/>
              <a:latin typeface="Public Sans Bold"/>
              <a:ea typeface="+mn-ea"/>
              <a:cs typeface="+mn-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8658" y="864742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CD0F07B5-B9F1-AFD9-BE2E-C996B1D43B9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5" t="14445" r="24167" b="8819"/>
          <a:stretch/>
        </p:blipFill>
        <p:spPr>
          <a:xfrm>
            <a:off x="4118952" y="3238500"/>
            <a:ext cx="12839705" cy="65024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9003" y="858075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7" y="0"/>
                </a:lnTo>
                <a:lnTo>
                  <a:pt x="535737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83851" y="449940"/>
            <a:ext cx="16520297" cy="1305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 dirty="0">
                <a:solidFill>
                  <a:srgbClr val="2B2C30"/>
                </a:solidFill>
                <a:latin typeface="Public Sans Bold"/>
              </a:rPr>
              <a:t>FUNCTION GENERATOR CIRCUIT BUILT WITH AN</a:t>
            </a:r>
            <a:r>
              <a:rPr lang="en-AS" sz="3714" spc="843" dirty="0">
                <a:solidFill>
                  <a:srgbClr val="2B2C30"/>
                </a:solidFill>
                <a:latin typeface="Public Sans Bold"/>
              </a:rPr>
              <a:t> IC555</a:t>
            </a:r>
            <a:r>
              <a:rPr lang="en-US" sz="3714" spc="843" dirty="0">
                <a:solidFill>
                  <a:srgbClr val="2B2C30"/>
                </a:solidFill>
                <a:latin typeface="Public Sans Bold"/>
              </a:rPr>
              <a:t>,</a:t>
            </a:r>
            <a:r>
              <a:rPr lang="en-US" sz="3714" spc="843" dirty="0">
                <a:solidFill>
                  <a:srgbClr val="FF3131"/>
                </a:solidFill>
                <a:latin typeface="Public Sans Bold"/>
              </a:rPr>
              <a:t>THE BREADBOARD</a:t>
            </a:r>
            <a:r>
              <a:rPr lang="en-US" sz="3714" spc="843" dirty="0">
                <a:solidFill>
                  <a:srgbClr val="2B2C30"/>
                </a:solidFill>
                <a:latin typeface="Public Sans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9343" y="2226124"/>
            <a:ext cx="15372403" cy="1391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20"/>
              </a:lnSpc>
            </a:pPr>
            <a:endParaRPr dirty="0"/>
          </a:p>
          <a:p>
            <a:pPr>
              <a:lnSpc>
                <a:spcPts val="3720"/>
              </a:lnSpc>
            </a:pPr>
            <a:r>
              <a:rPr lang="en-US" sz="2480" dirty="0">
                <a:solidFill>
                  <a:srgbClr val="2B2C30"/>
                </a:solidFill>
                <a:latin typeface="Public Sans Bold"/>
              </a:rPr>
              <a:t>The function generator circuit we will build with an </a:t>
            </a:r>
            <a:r>
              <a:rPr lang="en-AS" sz="2480" dirty="0">
                <a:solidFill>
                  <a:srgbClr val="2B2C30"/>
                </a:solidFill>
                <a:latin typeface="Public Sans Bold"/>
              </a:rPr>
              <a:t>IC555</a:t>
            </a:r>
            <a:r>
              <a:rPr lang="en-US" sz="2480" dirty="0">
                <a:solidFill>
                  <a:srgbClr val="2B2C30"/>
                </a:solidFill>
                <a:latin typeface="Public Sans Bold"/>
              </a:rPr>
              <a:t>  is shown below</a:t>
            </a:r>
          </a:p>
          <a:p>
            <a:pPr>
              <a:lnSpc>
                <a:spcPts val="3720"/>
              </a:lnSpc>
            </a:pPr>
            <a:endParaRPr lang="en-US" sz="2480" dirty="0">
              <a:solidFill>
                <a:srgbClr val="2B2C30"/>
              </a:solidFill>
              <a:latin typeface="Public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8658" y="864742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  <p:pic>
        <p:nvPicPr>
          <p:cNvPr id="9" name="Picture 8" descr="A circuit board with wires&#10;&#10;Description automatically generated">
            <a:extLst>
              <a:ext uri="{FF2B5EF4-FFF2-40B4-BE49-F238E27FC236}">
                <a16:creationId xmlns:a16="http://schemas.microsoft.com/office/drawing/2014/main" id="{CB320E4D-7BFC-C32A-83F0-FE8D2264F4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5842" y="3931226"/>
            <a:ext cx="5143500" cy="5295900"/>
          </a:xfrm>
          <a:prstGeom prst="rect">
            <a:avLst/>
          </a:prstGeom>
        </p:spPr>
      </p:pic>
      <p:pic>
        <p:nvPicPr>
          <p:cNvPr id="12" name="Picture 11" descr="A circuit board with wires connected to it&#10;&#10;Description automatically generated">
            <a:extLst>
              <a:ext uri="{FF2B5EF4-FFF2-40B4-BE49-F238E27FC236}">
                <a16:creationId xmlns:a16="http://schemas.microsoft.com/office/drawing/2014/main" id="{03733C3E-F37F-C3D0-FE00-89D3943015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559" y="3957036"/>
            <a:ext cx="8689200" cy="381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276</Words>
  <Application>Microsoft Office PowerPoint</Application>
  <PresentationFormat>Custom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Public Sans Bold</vt:lpstr>
      <vt:lpstr>Public Sans</vt:lpstr>
      <vt:lpstr>Calibri</vt:lpstr>
      <vt:lpstr>Arial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Neutral Minimalist New Business Pitch Deck Presentation</dc:title>
  <dc:creator>Aya Mohamed</dc:creator>
  <cp:lastModifiedBy>ايه محمد سيد حامد</cp:lastModifiedBy>
  <cp:revision>5</cp:revision>
  <dcterms:created xsi:type="dcterms:W3CDTF">2006-08-16T00:00:00Z</dcterms:created>
  <dcterms:modified xsi:type="dcterms:W3CDTF">2023-12-17T17:48:30Z</dcterms:modified>
  <dc:identifier>DAF2aDilTto</dc:identifier>
</cp:coreProperties>
</file>