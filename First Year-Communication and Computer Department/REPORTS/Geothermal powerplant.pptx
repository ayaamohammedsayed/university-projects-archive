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12/17/2022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tel:2.7" TargetMode="External"/><Relationship Id="rId2" Type="http://schemas.openxmlformats.org/officeDocument/2006/relationships/hyperlink" Target="tel:1000" TargetMode="Externa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hyperlink" Target="tel:150" TargetMode="External"/><Relationship Id="rId4" Type="http://schemas.openxmlformats.org/officeDocument/2006/relationships/hyperlink" Target="tel:100"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tel:000" TargetMode="External"/><Relationship Id="rId2" Type="http://schemas.openxmlformats.org/officeDocument/2006/relationships/hyperlink" Target="tel:100"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E9B59-408F-4A0C-7678-3218E3B16D95}"/>
              </a:ext>
            </a:extLst>
          </p:cNvPr>
          <p:cNvSpPr>
            <a:spLocks noGrp="1"/>
          </p:cNvSpPr>
          <p:nvPr>
            <p:ph type="ctrTitle"/>
          </p:nvPr>
        </p:nvSpPr>
        <p:spPr/>
        <p:txBody>
          <a:bodyPr/>
          <a:lstStyle/>
          <a:p>
            <a:r>
              <a:rPr lang="en-US" dirty="0"/>
              <a:t>G</a:t>
            </a:r>
            <a:r>
              <a:rPr lang="en-AS" dirty="0" err="1"/>
              <a:t>eothermal</a:t>
            </a:r>
            <a:r>
              <a:rPr lang="en-AS" dirty="0"/>
              <a:t> powerplant</a:t>
            </a:r>
            <a:endParaRPr lang="en-US" dirty="0"/>
          </a:p>
        </p:txBody>
      </p:sp>
      <p:sp>
        <p:nvSpPr>
          <p:cNvPr id="3" name="Subtitle 2">
            <a:extLst>
              <a:ext uri="{FF2B5EF4-FFF2-40B4-BE49-F238E27FC236}">
                <a16:creationId xmlns:a16="http://schemas.microsoft.com/office/drawing/2014/main" id="{097389D5-AF4C-51DA-2D19-F1EB07629FCE}"/>
              </a:ext>
            </a:extLst>
          </p:cNvPr>
          <p:cNvSpPr>
            <a:spLocks noGrp="1"/>
          </p:cNvSpPr>
          <p:nvPr>
            <p:ph type="subTitle" idx="1"/>
          </p:nvPr>
        </p:nvSpPr>
        <p:spPr/>
        <p:txBody>
          <a:bodyPr/>
          <a:lstStyle/>
          <a:p>
            <a:r>
              <a:rPr lang="en-US" dirty="0"/>
              <a:t>R</a:t>
            </a:r>
            <a:r>
              <a:rPr lang="en-AS" dirty="0" err="1"/>
              <a:t>eport</a:t>
            </a:r>
            <a:r>
              <a:rPr lang="en-AS" dirty="0"/>
              <a:t> 1. </a:t>
            </a:r>
            <a:br>
              <a:rPr lang="en-AS" dirty="0"/>
            </a:br>
            <a:r>
              <a:rPr lang="en-AS" dirty="0"/>
              <a:t>aya mohamed </a:t>
            </a:r>
            <a:r>
              <a:rPr lang="en-AS" dirty="0" err="1"/>
              <a:t>sayed</a:t>
            </a:r>
            <a:r>
              <a:rPr lang="en-AS" dirty="0"/>
              <a:t> .</a:t>
            </a:r>
            <a:br>
              <a:rPr lang="en-AS" dirty="0"/>
            </a:br>
            <a:r>
              <a:rPr lang="en-AS" dirty="0"/>
              <a:t>sec 1. b.no 9</a:t>
            </a:r>
            <a:endParaRPr lang="en-US" dirty="0"/>
          </a:p>
        </p:txBody>
      </p:sp>
    </p:spTree>
    <p:extLst>
      <p:ext uri="{BB962C8B-B14F-4D97-AF65-F5344CB8AC3E}">
        <p14:creationId xmlns:p14="http://schemas.microsoft.com/office/powerpoint/2010/main" val="26590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D035E9-9492-4A96-8BC3-7FB24D7F9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1B7BB-B443-6511-09AE-C42E6D7364A6}"/>
              </a:ext>
            </a:extLst>
          </p:cNvPr>
          <p:cNvSpPr>
            <a:spLocks noGrp="1"/>
          </p:cNvSpPr>
          <p:nvPr>
            <p:ph type="title"/>
          </p:nvPr>
        </p:nvSpPr>
        <p:spPr>
          <a:xfrm>
            <a:off x="1024128" y="459317"/>
            <a:ext cx="4389120" cy="1749552"/>
          </a:xfrm>
        </p:spPr>
        <p:txBody>
          <a:bodyPr>
            <a:normAutofit/>
          </a:bodyPr>
          <a:lstStyle/>
          <a:p>
            <a:r>
              <a:rPr lang="en-US" sz="4400"/>
              <a:t>W</a:t>
            </a:r>
            <a:r>
              <a:rPr lang="en-AS" sz="4400"/>
              <a:t>hat is geothermal energy</a:t>
            </a:r>
            <a:endParaRPr lang="en-US" sz="4400"/>
          </a:p>
        </p:txBody>
      </p:sp>
      <p:cxnSp>
        <p:nvCxnSpPr>
          <p:cNvPr id="12" name="Straight Connector 11">
            <a:extLst>
              <a:ext uri="{FF2B5EF4-FFF2-40B4-BE49-F238E27FC236}">
                <a16:creationId xmlns:a16="http://schemas.microsoft.com/office/drawing/2014/main" id="{EEFBDC43-ADB2-4EDE-8696-528BCABD17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CC1BB7-8A17-7C6A-6CD9-6C5B49CC2B8F}"/>
              </a:ext>
            </a:extLst>
          </p:cNvPr>
          <p:cNvSpPr>
            <a:spLocks noGrp="1"/>
          </p:cNvSpPr>
          <p:nvPr>
            <p:ph idx="1"/>
          </p:nvPr>
        </p:nvSpPr>
        <p:spPr>
          <a:xfrm>
            <a:off x="1024129" y="2286000"/>
            <a:ext cx="4389120" cy="3931920"/>
          </a:xfrm>
        </p:spPr>
        <p:txBody>
          <a:bodyPr>
            <a:normAutofit/>
          </a:bodyPr>
          <a:lstStyle/>
          <a:p>
            <a:r>
              <a:rPr lang="en-US" sz="1400"/>
              <a:t>G</a:t>
            </a:r>
            <a:r>
              <a:rPr lang="en-AS" sz="1400"/>
              <a:t>eothermal energy is an alternative ,clean and renewable </a:t>
            </a:r>
            <a:br>
              <a:rPr lang="en-US" sz="1400"/>
            </a:br>
            <a:r>
              <a:rPr lang="en-US" sz="1400" b="0" i="0">
                <a:effectLst/>
                <a:latin typeface="Times New Roman" panose="02020603050405020304" pitchFamily="18" charset="0"/>
              </a:rPr>
              <a:t>energy source , which is high thermal energy of natural origin stored in magma in the ground . Where it is estimated that more than 99% of the Earth's mass is rocks whose temperature exceeds </a:t>
            </a:r>
            <a:r>
              <a:rPr lang="en-US" sz="1400" b="0" i="0">
                <a:effectLst/>
                <a:latin typeface="Times New Roman" panose="02020603050405020304" pitchFamily="18" charset="0"/>
                <a:hlinkClick r:id="rId2"/>
              </a:rPr>
              <a:t>1000</a:t>
            </a:r>
            <a:r>
              <a:rPr lang="en-US" sz="1400" b="0" i="0">
                <a:effectLst/>
                <a:latin typeface="Times New Roman" panose="02020603050405020304" pitchFamily="18" charset="0"/>
              </a:rPr>
              <a:t> degrees Celsius .  The temperature rises as we go deeper into the earth's core, at a rate of about </a:t>
            </a:r>
            <a:r>
              <a:rPr lang="en-US" sz="1400" b="0" i="0">
                <a:effectLst/>
                <a:latin typeface="Times New Roman" panose="02020603050405020304" pitchFamily="18" charset="0"/>
                <a:hlinkClick r:id="rId3"/>
              </a:rPr>
              <a:t>2.7</a:t>
            </a:r>
            <a:r>
              <a:rPr lang="en-US" sz="1400" b="0" i="0">
                <a:effectLst/>
                <a:latin typeface="Times New Roman" panose="02020603050405020304" pitchFamily="18" charset="0"/>
              </a:rPr>
              <a:t> degrees Celsius for every </a:t>
            </a:r>
            <a:r>
              <a:rPr lang="en-US" sz="1400" b="0" i="0">
                <a:effectLst/>
                <a:latin typeface="Times New Roman" panose="02020603050405020304" pitchFamily="18" charset="0"/>
                <a:hlinkClick r:id="rId4"/>
              </a:rPr>
              <a:t>100</a:t>
            </a:r>
            <a:r>
              <a:rPr lang="en-US" sz="1400" b="0" i="0">
                <a:effectLst/>
                <a:latin typeface="Times New Roman" panose="02020603050405020304" pitchFamily="18" charset="0"/>
              </a:rPr>
              <a:t> meters in depth, that is, it reaches an average of 27 degrees Celsius at a depth of one kilometer or 55 degrees at a depth of two kilometers, and so on. And take advantage of this Thermal energy is mainly used to generate electricity , and this requires digging many pipes to abysmal depths that may reach about 5 kilometers. Sometimes hot water is used for heating when the temperature is close to the surface of the earth , and we find it at a depth of </a:t>
            </a:r>
            <a:r>
              <a:rPr lang="en-US" sz="1400" b="0" i="0">
                <a:effectLst/>
                <a:latin typeface="Times New Roman" panose="02020603050405020304" pitchFamily="18" charset="0"/>
                <a:hlinkClick r:id="rId5"/>
              </a:rPr>
              <a:t>150</a:t>
            </a:r>
            <a:r>
              <a:rPr lang="en-US" sz="1400" b="0" i="0">
                <a:effectLst/>
                <a:latin typeface="Times New Roman" panose="02020603050405020304" pitchFamily="18" charset="0"/>
              </a:rPr>
              <a:t> meters or sometimes in certain areas in the form of hot springs that reach the surface of the earth .</a:t>
            </a:r>
            <a:br>
              <a:rPr lang="en-US" sz="1400"/>
            </a:br>
            <a:br>
              <a:rPr lang="en-US" sz="1400"/>
            </a:br>
            <a:r>
              <a:rPr lang="en-US" sz="1400" b="0" i="0">
                <a:effectLst/>
                <a:latin typeface="Times New Roman" panose="02020603050405020304" pitchFamily="18" charset="0"/>
              </a:rPr>
              <a:t>￼</a:t>
            </a:r>
            <a:br>
              <a:rPr lang="en-US" sz="1400"/>
            </a:br>
            <a:endParaRPr lang="en-US" sz="1400"/>
          </a:p>
        </p:txBody>
      </p:sp>
      <p:pic>
        <p:nvPicPr>
          <p:cNvPr id="5" name="Picture 4" descr="A picture containing grass, outdoor, nature, smoke&#10;&#10;Description automatically generated">
            <a:extLst>
              <a:ext uri="{FF2B5EF4-FFF2-40B4-BE49-F238E27FC236}">
                <a16:creationId xmlns:a16="http://schemas.microsoft.com/office/drawing/2014/main" id="{3AE47083-F9B2-8F83-0F0C-0CBFEBC06643}"/>
              </a:ext>
            </a:extLst>
          </p:cNvPr>
          <p:cNvPicPr>
            <a:picLocks noChangeAspect="1"/>
          </p:cNvPicPr>
          <p:nvPr/>
        </p:nvPicPr>
        <p:blipFill rotWithShape="1">
          <a:blip r:embed="rId6"/>
          <a:srcRect l="24121" r="19535" b="-1"/>
          <a:stretch/>
        </p:blipFill>
        <p:spPr>
          <a:xfrm>
            <a:off x="7056116" y="960120"/>
            <a:ext cx="4175762" cy="4940852"/>
          </a:xfrm>
          <a:prstGeom prst="rect">
            <a:avLst/>
          </a:prstGeom>
        </p:spPr>
      </p:pic>
    </p:spTree>
    <p:extLst>
      <p:ext uri="{BB962C8B-B14F-4D97-AF65-F5344CB8AC3E}">
        <p14:creationId xmlns:p14="http://schemas.microsoft.com/office/powerpoint/2010/main" val="3842368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3A26C0-3F49-3F11-655B-C56BD0833345}"/>
              </a:ext>
            </a:extLst>
          </p:cNvPr>
          <p:cNvSpPr>
            <a:spLocks noGrp="1"/>
          </p:cNvSpPr>
          <p:nvPr>
            <p:ph type="title"/>
          </p:nvPr>
        </p:nvSpPr>
        <p:spPr>
          <a:xfrm>
            <a:off x="1024128" y="459317"/>
            <a:ext cx="4389120" cy="1749552"/>
          </a:xfrm>
        </p:spPr>
        <p:txBody>
          <a:bodyPr>
            <a:normAutofit/>
          </a:bodyPr>
          <a:lstStyle/>
          <a:p>
            <a:r>
              <a:rPr lang="en-US" sz="4400"/>
              <a:t>G</a:t>
            </a:r>
            <a:r>
              <a:rPr lang="en-AS" sz="4400"/>
              <a:t>eothermal energy</a:t>
            </a:r>
            <a:endParaRPr lang="en-US" sz="4400"/>
          </a:p>
        </p:txBody>
      </p:sp>
      <p:cxnSp>
        <p:nvCxnSpPr>
          <p:cNvPr id="12" name="Straight Connector 11">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534665E-E352-C2C0-FC13-C3CE6E541E7E}"/>
              </a:ext>
            </a:extLst>
          </p:cNvPr>
          <p:cNvSpPr>
            <a:spLocks noGrp="1"/>
          </p:cNvSpPr>
          <p:nvPr>
            <p:ph idx="1"/>
          </p:nvPr>
        </p:nvSpPr>
        <p:spPr>
          <a:xfrm>
            <a:off x="1024129" y="2286000"/>
            <a:ext cx="4389120" cy="3931920"/>
          </a:xfrm>
        </p:spPr>
        <p:txBody>
          <a:bodyPr>
            <a:normAutofit/>
          </a:bodyPr>
          <a:lstStyle/>
          <a:p>
            <a:r>
              <a:rPr lang="en-US" sz="1800" b="0" i="0">
                <a:effectLst/>
                <a:latin typeface="Times New Roman" panose="02020603050405020304" pitchFamily="18" charset="0"/>
              </a:rPr>
              <a:t>This renewable energy, in theory, could be sufficient to cover the world's energy</a:t>
            </a:r>
            <a:br>
              <a:rPr lang="en-AS" sz="1800" b="0" i="0">
                <a:effectLst/>
                <a:latin typeface="Times New Roman" panose="02020603050405020304" pitchFamily="18" charset="0"/>
              </a:rPr>
            </a:br>
            <a:r>
              <a:rPr lang="en-US" sz="1800" b="0" i="0">
                <a:effectLst/>
                <a:latin typeface="Times New Roman" panose="02020603050405020304" pitchFamily="18" charset="0"/>
              </a:rPr>
              <a:t> needs for the next </a:t>
            </a:r>
            <a:r>
              <a:rPr lang="en-US" sz="1800" b="0" i="0">
                <a:effectLst/>
                <a:latin typeface="Times New Roman" panose="02020603050405020304" pitchFamily="18" charset="0"/>
                <a:hlinkClick r:id="rId2"/>
              </a:rPr>
              <a:t>100</a:t>
            </a:r>
            <a:r>
              <a:rPr lang="en-US" sz="1800" b="0" i="0">
                <a:effectLst/>
                <a:latin typeface="Times New Roman" panose="02020603050405020304" pitchFamily="18" charset="0"/>
              </a:rPr>
              <a:t>,</a:t>
            </a:r>
            <a:r>
              <a:rPr lang="en-US" sz="1800" b="0" i="0">
                <a:effectLst/>
                <a:latin typeface="Times New Roman" panose="02020603050405020304" pitchFamily="18" charset="0"/>
                <a:hlinkClick r:id="rId3"/>
              </a:rPr>
              <a:t>000</a:t>
            </a:r>
            <a:r>
              <a:rPr lang="en-US" sz="1800" b="0" i="0">
                <a:effectLst/>
                <a:latin typeface="Times New Roman" panose="02020603050405020304" pitchFamily="18" charset="0"/>
              </a:rPr>
              <a:t> years, but converting it into electric energy is an expensive process due to drilling operations to great depths and the need for many pipes to extract hot water in abundant quantities, although the basic energy ( The raw material) is free and is widely available, but difficult to obtain.</a:t>
            </a:r>
            <a:endParaRPr lang="en-US" sz="1800"/>
          </a:p>
        </p:txBody>
      </p:sp>
      <p:pic>
        <p:nvPicPr>
          <p:cNvPr id="5" name="Picture 4" descr="A picture containing text, stationary&#10;&#10;Description automatically generated">
            <a:extLst>
              <a:ext uri="{FF2B5EF4-FFF2-40B4-BE49-F238E27FC236}">
                <a16:creationId xmlns:a16="http://schemas.microsoft.com/office/drawing/2014/main" id="{DBA1539F-74B5-3EA0-5D6F-E8B84583AA72}"/>
              </a:ext>
            </a:extLst>
          </p:cNvPr>
          <p:cNvPicPr>
            <a:picLocks noChangeAspect="1"/>
          </p:cNvPicPr>
          <p:nvPr/>
        </p:nvPicPr>
        <p:blipFill>
          <a:blip r:embed="rId4"/>
          <a:stretch>
            <a:fillRect/>
          </a:stretch>
        </p:blipFill>
        <p:spPr>
          <a:xfrm>
            <a:off x="7396171" y="960120"/>
            <a:ext cx="3495652" cy="4940852"/>
          </a:xfrm>
          <a:prstGeom prst="rect">
            <a:avLst/>
          </a:prstGeom>
        </p:spPr>
      </p:pic>
    </p:spTree>
    <p:extLst>
      <p:ext uri="{BB962C8B-B14F-4D97-AF65-F5344CB8AC3E}">
        <p14:creationId xmlns:p14="http://schemas.microsoft.com/office/powerpoint/2010/main" val="4065395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C4D8-9F6A-DF75-5BB6-C2AC22F99072}"/>
              </a:ext>
            </a:extLst>
          </p:cNvPr>
          <p:cNvSpPr>
            <a:spLocks noGrp="1"/>
          </p:cNvSpPr>
          <p:nvPr>
            <p:ph type="title"/>
          </p:nvPr>
        </p:nvSpPr>
        <p:spPr>
          <a:xfrm>
            <a:off x="1024128" y="585216"/>
            <a:ext cx="6066818" cy="1499616"/>
          </a:xfrm>
        </p:spPr>
        <p:txBody>
          <a:bodyPr>
            <a:normAutofit/>
          </a:bodyPr>
          <a:lstStyle/>
          <a:p>
            <a:r>
              <a:rPr lang="en-US" dirty="0"/>
              <a:t>T</a:t>
            </a:r>
            <a:r>
              <a:rPr lang="en-AS" dirty="0"/>
              <a:t>he source of geothermal energy</a:t>
            </a:r>
            <a:endParaRPr lang="en-US" dirty="0"/>
          </a:p>
        </p:txBody>
      </p:sp>
      <p:sp>
        <p:nvSpPr>
          <p:cNvPr id="3" name="Content Placeholder 2">
            <a:extLst>
              <a:ext uri="{FF2B5EF4-FFF2-40B4-BE49-F238E27FC236}">
                <a16:creationId xmlns:a16="http://schemas.microsoft.com/office/drawing/2014/main" id="{8A2BBD89-2A5C-E2FA-F6A3-19247BD5D6A6}"/>
              </a:ext>
            </a:extLst>
          </p:cNvPr>
          <p:cNvSpPr>
            <a:spLocks noGrp="1"/>
          </p:cNvSpPr>
          <p:nvPr>
            <p:ph idx="1"/>
          </p:nvPr>
        </p:nvSpPr>
        <p:spPr>
          <a:xfrm>
            <a:off x="1024128" y="2286000"/>
            <a:ext cx="6066818" cy="4023360"/>
          </a:xfrm>
        </p:spPr>
        <p:txBody>
          <a:bodyPr>
            <a:normAutofit/>
          </a:bodyPr>
          <a:lstStyle/>
          <a:p>
            <a:r>
              <a:rPr lang="en-US" b="0" i="0">
                <a:effectLst/>
                <a:latin typeface="Times New Roman" panose="02020603050405020304" pitchFamily="18" charset="0"/>
              </a:rPr>
              <a:t>The sources of obtaining geothermal energy are divided into two parts: underground hot water and hot rocks that are found in volcanically active areas or in the distant depths under the surface of the earth . Many other fields of industry and agriculture</a:t>
            </a:r>
            <a:endParaRPr lang="en-US" dirty="0"/>
          </a:p>
        </p:txBody>
      </p:sp>
      <p:pic>
        <p:nvPicPr>
          <p:cNvPr id="5" name="Picture 4" descr="Natural petrol fired electrical power plant">
            <a:extLst>
              <a:ext uri="{FF2B5EF4-FFF2-40B4-BE49-F238E27FC236}">
                <a16:creationId xmlns:a16="http://schemas.microsoft.com/office/drawing/2014/main" id="{B0025802-B38D-C78F-38AF-100D9CBE92FB}"/>
              </a:ext>
            </a:extLst>
          </p:cNvPr>
          <p:cNvPicPr>
            <a:picLocks noChangeAspect="1"/>
          </p:cNvPicPr>
          <p:nvPr/>
        </p:nvPicPr>
        <p:blipFill rotWithShape="1">
          <a:blip r:embed="rId2"/>
          <a:srcRect l="16178" r="38662" b="-1"/>
          <a:stretch/>
        </p:blipFill>
        <p:spPr>
          <a:xfrm>
            <a:off x="7552266" y="10"/>
            <a:ext cx="4639733" cy="6857990"/>
          </a:xfrm>
          <a:prstGeom prst="rect">
            <a:avLst/>
          </a:prstGeom>
        </p:spPr>
      </p:pic>
    </p:spTree>
    <p:extLst>
      <p:ext uri="{BB962C8B-B14F-4D97-AF65-F5344CB8AC3E}">
        <p14:creationId xmlns:p14="http://schemas.microsoft.com/office/powerpoint/2010/main" val="2458216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CCFBE8-5038-9B5F-5775-7E0FF0D757DA}"/>
              </a:ext>
            </a:extLst>
          </p:cNvPr>
          <p:cNvSpPr>
            <a:spLocks noGrp="1"/>
          </p:cNvSpPr>
          <p:nvPr>
            <p:ph type="title"/>
          </p:nvPr>
        </p:nvSpPr>
        <p:spPr>
          <a:xfrm>
            <a:off x="963965" y="601420"/>
            <a:ext cx="3391900" cy="5103755"/>
          </a:xfrm>
        </p:spPr>
        <p:txBody>
          <a:bodyPr>
            <a:normAutofit/>
          </a:bodyPr>
          <a:lstStyle/>
          <a:p>
            <a:pPr algn="r"/>
            <a:r>
              <a:rPr lang="en-US" sz="3500" b="0" i="0" dirty="0">
                <a:effectLst/>
                <a:latin typeface="Times New Roman" panose="02020603050405020304" pitchFamily="18" charset="0"/>
              </a:rPr>
              <a:t>Generation of electricity using geothermal energy</a:t>
            </a:r>
            <a:endParaRPr lang="en-US" sz="3500" dirty="0"/>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DE3F75-9366-3BEB-E40E-5AB407390564}"/>
              </a:ext>
            </a:extLst>
          </p:cNvPr>
          <p:cNvSpPr>
            <a:spLocks noGrp="1"/>
          </p:cNvSpPr>
          <p:nvPr>
            <p:ph idx="1"/>
          </p:nvPr>
        </p:nvSpPr>
        <p:spPr>
          <a:xfrm>
            <a:off x="4999330" y="804333"/>
            <a:ext cx="6257721" cy="5249334"/>
          </a:xfrm>
        </p:spPr>
        <p:txBody>
          <a:bodyPr anchor="ctr">
            <a:normAutofit/>
          </a:bodyPr>
          <a:lstStyle/>
          <a:p>
            <a:r>
              <a:rPr lang="en-US" sz="1400" b="0" i="0" dirty="0">
                <a:effectLst/>
                <a:latin typeface="Times New Roman" panose="02020603050405020304" pitchFamily="18" charset="0"/>
              </a:rPr>
              <a:t>The first and most important way to benefit from geothermal energy is to convert it into electrical energy , and this is done in power plants using geothermal energy. There are three types of power plants using geothermal energy, as follows:</a:t>
            </a:r>
            <a:br>
              <a:rPr lang="en-US" sz="1400" dirty="0"/>
            </a:br>
            <a:br>
              <a:rPr lang="en-US" sz="1400" dirty="0"/>
            </a:br>
            <a:br>
              <a:rPr lang="en-US" sz="1400" dirty="0"/>
            </a:br>
            <a:br>
              <a:rPr lang="en-US" sz="1400" dirty="0"/>
            </a:br>
            <a:br>
              <a:rPr lang="en-US" sz="1400" dirty="0"/>
            </a:br>
            <a:r>
              <a:rPr lang="en-US" sz="1400" b="0" i="0" dirty="0">
                <a:effectLst/>
                <a:highlight>
                  <a:srgbClr val="FFFF00"/>
                </a:highlight>
                <a:latin typeface="Times New Roman" panose="02020603050405020304" pitchFamily="18" charset="0"/>
              </a:rPr>
              <a:t>Dry steam plants:</a:t>
            </a:r>
            <a:br>
              <a:rPr lang="en-US" sz="1400" dirty="0"/>
            </a:br>
            <a:br>
              <a:rPr lang="en-US" sz="1400" dirty="0"/>
            </a:br>
            <a:r>
              <a:rPr lang="en-US" sz="1400" b="0" i="0" dirty="0">
                <a:effectLst/>
                <a:latin typeface="Times New Roman" panose="02020603050405020304" pitchFamily="18" charset="0"/>
              </a:rPr>
              <a:t>This method is the oldest and most widespread method, and it is the same method </a:t>
            </a:r>
            <a:r>
              <a:rPr lang="en-AS" sz="1400" b="0" i="0" dirty="0">
                <a:effectLst/>
                <a:latin typeface="Times New Roman" panose="02020603050405020304" pitchFamily="18" charset="0"/>
              </a:rPr>
              <a:t>.</a:t>
            </a:r>
            <a:r>
              <a:rPr lang="en-US" sz="1400" b="0" i="0" dirty="0">
                <a:effectLst/>
                <a:latin typeface="Times New Roman" panose="02020603050405020304" pitchFamily="18" charset="0"/>
              </a:rPr>
              <a:t> These stations use water that is naturally present in the deep layers of the earth and is under the influence of high pressure and temperature . It is extracted by drilling deep wells, and it comes out in the form of water vapor because of its high temperature and because of the pressure difference . This steam travels in tubes and is then exposed to turbines that rotate electric generators that produce electrical energy . The condensate water is pumped to the ground through another well called the injection well.</a:t>
            </a:r>
            <a:br>
              <a:rPr lang="en-AS" sz="1400" b="0" i="0" dirty="0">
                <a:effectLst/>
                <a:latin typeface="Times New Roman" panose="02020603050405020304" pitchFamily="18" charset="0"/>
              </a:rPr>
            </a:br>
            <a:br>
              <a:rPr lang="en-US" sz="1400" dirty="0"/>
            </a:br>
            <a:r>
              <a:rPr lang="en-US" sz="1400" b="0" i="0" dirty="0">
                <a:effectLst/>
                <a:highlight>
                  <a:srgbClr val="FFFF00"/>
                </a:highlight>
                <a:latin typeface="Times New Roman" panose="02020603050405020304" pitchFamily="18" charset="0"/>
              </a:rPr>
              <a:t>fumigation stations:</a:t>
            </a:r>
            <a:br>
              <a:rPr lang="en-US" sz="1400" dirty="0"/>
            </a:br>
            <a:br>
              <a:rPr lang="en-US" sz="1400" dirty="0"/>
            </a:br>
            <a:r>
              <a:rPr lang="en-US" sz="1400" b="0" i="0" dirty="0">
                <a:effectLst/>
                <a:latin typeface="Times New Roman" panose="02020603050405020304" pitchFamily="18" charset="0"/>
              </a:rPr>
              <a:t>These stations use underground high- pressure liquids where they are concentrated in a container with a small hole that leads to another container with moderate pressure . When the liquid moves from the first container to the second through the hole, it evaporates due to the speed and the high pressure difference . The steam drives the turbine , which in turn drives the electric generators that produce electricity . The remaining condensate water is pumped to the ground through the injection well.</a:t>
            </a:r>
            <a:endParaRPr lang="en-US" sz="1400" dirty="0"/>
          </a:p>
        </p:txBody>
      </p:sp>
      <p:pic>
        <p:nvPicPr>
          <p:cNvPr id="7" name="Picture 6" descr="Diagram&#10;&#10;Description automatically generated">
            <a:extLst>
              <a:ext uri="{FF2B5EF4-FFF2-40B4-BE49-F238E27FC236}">
                <a16:creationId xmlns:a16="http://schemas.microsoft.com/office/drawing/2014/main" id="{0D691CA4-14F3-F24D-FA0A-8BDE1A640E29}"/>
              </a:ext>
            </a:extLst>
          </p:cNvPr>
          <p:cNvPicPr>
            <a:picLocks noChangeAspect="1"/>
          </p:cNvPicPr>
          <p:nvPr/>
        </p:nvPicPr>
        <p:blipFill>
          <a:blip r:embed="rId2"/>
          <a:stretch>
            <a:fillRect/>
          </a:stretch>
        </p:blipFill>
        <p:spPr>
          <a:xfrm>
            <a:off x="564415" y="4487320"/>
            <a:ext cx="2095500" cy="1819275"/>
          </a:xfrm>
          <a:prstGeom prst="rect">
            <a:avLst/>
          </a:prstGeom>
        </p:spPr>
      </p:pic>
    </p:spTree>
    <p:extLst>
      <p:ext uri="{BB962C8B-B14F-4D97-AF65-F5344CB8AC3E}">
        <p14:creationId xmlns:p14="http://schemas.microsoft.com/office/powerpoint/2010/main" val="2911804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BAE72D-F88F-E775-0408-3038931B4FE3}"/>
              </a:ext>
            </a:extLst>
          </p:cNvPr>
          <p:cNvSpPr>
            <a:spLocks noGrp="1"/>
          </p:cNvSpPr>
          <p:nvPr>
            <p:ph type="title"/>
          </p:nvPr>
        </p:nvSpPr>
        <p:spPr>
          <a:xfrm>
            <a:off x="964788" y="804333"/>
            <a:ext cx="3391900" cy="5249334"/>
          </a:xfrm>
        </p:spPr>
        <p:txBody>
          <a:bodyPr>
            <a:normAutofit/>
          </a:bodyPr>
          <a:lstStyle/>
          <a:p>
            <a:pPr algn="r"/>
            <a:r>
              <a:rPr lang="en-US" dirty="0"/>
              <a:t>A</a:t>
            </a:r>
            <a:r>
              <a:rPr lang="en-AS" dirty="0" err="1"/>
              <a:t>dvantage</a:t>
            </a:r>
            <a:r>
              <a:rPr lang="en-AS" dirty="0"/>
              <a:t> of geothermal energy</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23C2567-61AA-540F-30EC-977F1F60369C}"/>
              </a:ext>
            </a:extLst>
          </p:cNvPr>
          <p:cNvSpPr>
            <a:spLocks noGrp="1"/>
          </p:cNvSpPr>
          <p:nvPr>
            <p:ph idx="1"/>
          </p:nvPr>
        </p:nvSpPr>
        <p:spPr>
          <a:xfrm>
            <a:off x="4999330" y="804333"/>
            <a:ext cx="6257721" cy="5249334"/>
          </a:xfrm>
        </p:spPr>
        <p:txBody>
          <a:bodyPr anchor="ctr">
            <a:normAutofit/>
          </a:bodyPr>
          <a:lstStyle/>
          <a:p>
            <a:r>
              <a:rPr lang="en-US" b="0" i="0" dirty="0">
                <a:effectLst/>
                <a:latin typeface="Times New Roman" panose="02020603050405020304" pitchFamily="18" charset="0"/>
              </a:rPr>
              <a:t>Among the most important advantages of this energy:</a:t>
            </a:r>
            <a:br>
              <a:rPr lang="en-US" dirty="0"/>
            </a:br>
            <a:r>
              <a:rPr lang="en-AS" dirty="0"/>
              <a:t>1-</a:t>
            </a:r>
            <a:r>
              <a:rPr lang="en-US" b="0" i="0" dirty="0">
                <a:effectLst/>
                <a:latin typeface="Times New Roman" panose="02020603050405020304" pitchFamily="18" charset="0"/>
              </a:rPr>
              <a:t>Being a renewable energy , it is one of the sources of energy that does not run out at least for future generations.</a:t>
            </a:r>
            <a:br>
              <a:rPr lang="en-US" dirty="0"/>
            </a:br>
            <a:r>
              <a:rPr lang="en-AS" dirty="0"/>
              <a:t>2-</a:t>
            </a:r>
            <a:r>
              <a:rPr lang="en-US" b="0" i="0" dirty="0">
                <a:effectLst/>
                <a:latin typeface="Times New Roman" panose="02020603050405020304" pitchFamily="18" charset="0"/>
              </a:rPr>
              <a:t>Being a clean energy that is not harmful to the environment , and does not cause any pollution , whether in its extraction, conversion or use.</a:t>
            </a:r>
            <a:br>
              <a:rPr lang="en-US" dirty="0"/>
            </a:br>
            <a:r>
              <a:rPr lang="en-US" b="0" i="0" dirty="0">
                <a:effectLst/>
                <a:latin typeface="Times New Roman" panose="02020603050405020304" pitchFamily="18" charset="0"/>
              </a:rPr>
              <a:t>It is available in very large quantities and in vast areas and for most countries of the world.</a:t>
            </a:r>
            <a:br>
              <a:rPr lang="en-US" dirty="0"/>
            </a:br>
            <a:r>
              <a:rPr lang="en-AS" dirty="0"/>
              <a:t>3-</a:t>
            </a:r>
            <a:r>
              <a:rPr lang="en-US" b="0" i="0" dirty="0">
                <a:effectLst/>
                <a:latin typeface="Times New Roman" panose="02020603050405020304" pitchFamily="18" charset="0"/>
              </a:rPr>
              <a:t>Less energy production costs beyond the initial costs of producing the plant (which can be prohibitive).</a:t>
            </a:r>
            <a:br>
              <a:rPr lang="en-US" dirty="0"/>
            </a:br>
            <a:r>
              <a:rPr lang="en-AS" dirty="0"/>
              <a:t>4-</a:t>
            </a:r>
            <a:r>
              <a:rPr lang="en-US" b="0" i="0" dirty="0">
                <a:effectLst/>
                <a:latin typeface="Times New Roman" panose="02020603050405020304" pitchFamily="18" charset="0"/>
              </a:rPr>
              <a:t>High yield of extracted energy.</a:t>
            </a:r>
            <a:endParaRPr lang="en-US" dirty="0"/>
          </a:p>
        </p:txBody>
      </p:sp>
    </p:spTree>
    <p:extLst>
      <p:ext uri="{BB962C8B-B14F-4D97-AF65-F5344CB8AC3E}">
        <p14:creationId xmlns:p14="http://schemas.microsoft.com/office/powerpoint/2010/main" val="1314040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57D976-991E-E2F8-0C2D-BCAD55FA307B}"/>
              </a:ext>
            </a:extLst>
          </p:cNvPr>
          <p:cNvSpPr>
            <a:spLocks noGrp="1"/>
          </p:cNvSpPr>
          <p:nvPr>
            <p:ph type="title"/>
          </p:nvPr>
        </p:nvSpPr>
        <p:spPr>
          <a:xfrm>
            <a:off x="937712" y="804333"/>
            <a:ext cx="3391900" cy="5249334"/>
          </a:xfrm>
        </p:spPr>
        <p:txBody>
          <a:bodyPr>
            <a:normAutofit/>
          </a:bodyPr>
          <a:lstStyle/>
          <a:p>
            <a:pPr algn="r"/>
            <a:r>
              <a:rPr lang="en-US" dirty="0"/>
              <a:t>D</a:t>
            </a:r>
            <a:r>
              <a:rPr lang="en-AS" dirty="0" err="1"/>
              <a:t>isadvantage</a:t>
            </a:r>
            <a:r>
              <a:rPr lang="en-AS" dirty="0"/>
              <a:t> of geothermal energy</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04407F-C24F-1D58-1804-51D70B047750}"/>
              </a:ext>
            </a:extLst>
          </p:cNvPr>
          <p:cNvSpPr>
            <a:spLocks noGrp="1"/>
          </p:cNvSpPr>
          <p:nvPr>
            <p:ph idx="1"/>
          </p:nvPr>
        </p:nvSpPr>
        <p:spPr>
          <a:xfrm>
            <a:off x="4999330" y="804333"/>
            <a:ext cx="6257721" cy="5249334"/>
          </a:xfrm>
        </p:spPr>
        <p:txBody>
          <a:bodyPr anchor="ctr">
            <a:normAutofit/>
          </a:bodyPr>
          <a:lstStyle/>
          <a:p>
            <a:r>
              <a:rPr lang="en-US" b="0" i="0" dirty="0">
                <a:effectLst/>
                <a:latin typeface="Times New Roman" panose="02020603050405020304" pitchFamily="18" charset="0"/>
              </a:rPr>
              <a:t>Despite all the advantages of geothermal energy, which made it at the forefront of future alternative energy sources, there are some factors that make it difficult to spread, at least at the present time. Among the most important of these reasons is the high cost of establishing power plants using geothermal energy. The reason for this is due to the difficulty of drilling wells at abysmal depths that may reach a depth of 5 kilometers, amid high temperatures and in large numbers that allow the establishment of a medium-capacity power station.</a:t>
            </a:r>
            <a:endParaRPr lang="en-US" dirty="0"/>
          </a:p>
        </p:txBody>
      </p:sp>
    </p:spTree>
    <p:extLst>
      <p:ext uri="{BB962C8B-B14F-4D97-AF65-F5344CB8AC3E}">
        <p14:creationId xmlns:p14="http://schemas.microsoft.com/office/powerpoint/2010/main" val="68264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41</TotalTime>
  <Words>828</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Times New Roman</vt:lpstr>
      <vt:lpstr>Tw Cen MT</vt:lpstr>
      <vt:lpstr>Tw Cen MT Condensed</vt:lpstr>
      <vt:lpstr>Wingdings 3</vt:lpstr>
      <vt:lpstr>Integral</vt:lpstr>
      <vt:lpstr>Geothermal powerplant</vt:lpstr>
      <vt:lpstr>What is geothermal energy</vt:lpstr>
      <vt:lpstr>Geothermal energy</vt:lpstr>
      <vt:lpstr>The source of geothermal energy</vt:lpstr>
      <vt:lpstr>Generation of electricity using geothermal energy</vt:lpstr>
      <vt:lpstr>Advantage of geothermal energy</vt:lpstr>
      <vt:lpstr>Disadvantage of geothermal energy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Geothermal powerplant</dc:title>
  <dc:creator>aya</dc:creator>
  <cp:lastModifiedBy>aya</cp:lastModifiedBy>
  <cp:revision>1</cp:revision>
  <dcterms:created xsi:type="dcterms:W3CDTF">2022-12-17T18:24:55Z</dcterms:created>
  <dcterms:modified xsi:type="dcterms:W3CDTF">2022-12-17T19:06:01Z</dcterms:modified>
</cp:coreProperties>
</file>