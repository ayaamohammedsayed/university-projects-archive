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5" r:id="rId6"/>
    <p:sldId id="264" r:id="rId7"/>
    <p:sldId id="266" r:id="rId8"/>
    <p:sldId id="267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19:24:08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3803 346 24575,'-9'-1'0,"-1"0"0,1 0 0,0-1 0,0 0 0,0-1 0,-14-6 0,-10-3 0,-248-69-334,-3 13-1,-427-46 1,-47 63-200,586 53 456,0 7 0,-243 45 0,352-40 226,0 3-1,2 3 1,0 2-1,1 3 1,2 2 0,1 3-1,1 3 1,1 1-1,3 4 1,0 1 0,-69 71-1,101-90-147,1 1 0,-32 47 0,45-57 0,-1 0 0,2 1 0,-1 0 0,2-1 0,-1 2 0,2-1 0,0 0 0,0 1 0,0 12 0,-1 22 0,3-1 0,2 1 0,2-1 0,1 0 0,3 0 0,2 0 0,2-1 0,2 0 0,1-1 0,3-1 0,43 80 0,5-14-86,5-4-1,4-3 1,5-3-1,4-4 0,147 131 1,-95-110-16,6-7 1,4-6-1,218 115 1,-247-159 101,3-6 0,2-4 0,168 42 0,-67-38 0,233 24 0,662 39 0,-1051-110 0,33 4 132,0 5 0,-1 4 1,-1 4-1,-1 5 0,-2 4 0,103 49 0,-171-69-132,-1 1 0,0 2 0,-1 0 0,-1 2 0,-1 0 0,0 1 0,-1 2 0,-1 0 0,-1 1 0,30 44 0,-38-49 0,-1 2 0,0-1 0,-1 2 0,-1-1 0,-1 1 0,5 20 0,-10-25 0,0 0 0,0 1 0,-1-1 0,-1 0 0,-1 0 0,0 0 0,0 0 0,-1 0 0,-8 25 0,-3 2 5,-2-1-1,-2 0 1,-38 65-1,-87 107-334,42-86 75,-4-3 1,-6-5 0,-168 140 0,123-133 72,-5-7-1,-239 132 1,283-188 17,-3-6 0,-2-5-1,-3-5 1,-210 49 0,178-65 66,-2-6 1,-1-7-1,-235-4 0,-161-53 3115,479 29-2970,-507-90-11,427 59-35,138 35-60,17 7 65,1-1 0,0 1 0,0 0-1,-1 0 1,1 0 0,0-1 0,0 1 0,0 0 0,0 0-1,-1-1 1,1 1 0,0 0 0,0-1 0,0 1-1,0 0 1,0 0 0,0-1 0,0 1 0,-1 0 0,1-1-1,0 1 1,0 0 0,0-1 0,0 1 0,0 0-1,1 0 1,-1-1 0,0 1 0,0 0 0,0-1 0,2-1-127,-1 0 1,1 0 0,0 0 0,0 0-1,0 1 1,0-1 0,0 1 0,0-1 0,1 1-1,-1 0 1,3-1 0,26-12-6705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19:24:09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4140 769 24575,'-13'-9'0,"1"0"0,-1 1 0,-21-10 0,-7-2 0,-744-365-1547,627 319 1160,-4 8 1,-1 6-1,-200-36 0,222 65 411,-1 6 1,0 6-1,-1 6 0,0 7 0,0 6 1,1 6-1,0 6 0,-258 73 1,312-63 146,1 3 1,2 5-1,1 3 1,-144 97 0,193-113 377,1 1 1,-38 39 0,56-50-497,1 2-1,1 0 1,1 0-1,0 1 1,1 1 0,-10 23-1,13-18-52,1 1 0,2 0 0,0 0 0,2 0 0,1 1 0,1 0 0,1-1 0,2 33 0,2-37 0,0 1 0,1-1 0,1 0 0,1 0 0,1-1 0,0 0 0,2 0 0,20 35 0,9 3 0,62 75 0,602 656 0,-626-717 0,4-3 0,113 77 0,190 87 0,-333-205 0,334 176 0,-300-165 0,3-4 0,149 41 0,-153-57 0,1-3 0,0-4 0,1-4 0,91-2 0,23-8-1365,-176 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19:24:11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24575,'39'190'0,"-16"-91"0,336 1722-5310,-187-770 5484,-73-395 648,-51-319-524,-9-80-52,88 742 1739,-115-391-758,-12-607-1216,0-1-1,0 1 0,0-1 0,0 0 0,0 1 0,0-1 0,0 1 0,0-1 0,0 0 0,0 1 0,0-1 0,0 0 0,0 1 0,0-1 0,0 1 0,-1-1 0,1 0 0,0 1 0,0-1 0,0 0 0,-1 1 0,1-1 0,0 0 0,0 1 0,-1-1 0,1 0 0,0 0 0,-1 1 0,1-1 0,-1 0 0,-7-13 237,3 1-247,2-1 0,0 0 0,0 1 0,-1-15 0,0-6 0,-86-1052-2810,107-254-717,15 952 3458,118-551 1,-22 465-1725,-99 391 1715,4 0-1,3 2 1,68-108-1,-81 153 584,1 0 0,1 2 0,34-33 0,-49 56-12,0 0 0,1 1 1,0 0-1,1 1 0,-1 0 0,2 1 0,-1 0 0,1 1 0,0 1 1,0 0-1,1 0 0,25-4 0,-11 6-477,1 1 1,0 2-1,0 1 0,0 1 1,-1 1-1,1 2 0,-1 0 1,0 2-1,35 14 0,-3 4-19,-2 3 0,-1 2 0,58 40-1,-55-31 4,216 148 0,-222-146 0,-3 3 0,-1 1 0,43 53 0,107 155 0,-164-199 0,-2 0 0,53 119 0,-35-44 0,-7 2 0,-5 2 0,-5 2 0,24 206 0,34 896-769,-93-603 1313,-2-283-319,-3-297-1590,0-36-5461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19:44:5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19:45:0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19:45:01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19:45:01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  <inkml:trace contextRef="#ctx0" brushRef="#br0" timeOffset="1">0 1 24575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19:45:08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30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ustomXml" Target="../ink/ink8.xm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5712-213B-B004-9CF1-2E753FB3D6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S" dirty="0"/>
              <a:t>Audio amplifier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6777A-81C8-5678-D228-9F6EACC768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S" dirty="0"/>
              <a:t>Team 16</a:t>
            </a:r>
            <a:br>
              <a:rPr lang="en-AS" dirty="0"/>
            </a:br>
            <a:r>
              <a:rPr lang="en-AS" dirty="0"/>
              <a:t>1-kyrolis atef</a:t>
            </a:r>
            <a:br>
              <a:rPr lang="en-AS" dirty="0"/>
            </a:br>
            <a:r>
              <a:rPr lang="en-AS" dirty="0"/>
              <a:t>2-</a:t>
            </a:r>
            <a:r>
              <a:rPr lang="en-US" dirty="0"/>
              <a:t>H</a:t>
            </a:r>
            <a:r>
              <a:rPr lang="en-AS" dirty="0" err="1"/>
              <a:t>abiba</a:t>
            </a:r>
            <a:r>
              <a:rPr lang="en-AS" dirty="0"/>
              <a:t> </a:t>
            </a:r>
            <a:r>
              <a:rPr lang="en-AS" dirty="0" err="1"/>
              <a:t>ahmed</a:t>
            </a:r>
            <a:endParaRPr lang="en-AS" dirty="0"/>
          </a:p>
          <a:p>
            <a:r>
              <a:rPr lang="en-AS" dirty="0"/>
              <a:t>3-shrouk </a:t>
            </a:r>
            <a:r>
              <a:rPr lang="en-AS" dirty="0" err="1"/>
              <a:t>sayed</a:t>
            </a:r>
            <a:endParaRPr lang="en-AS" dirty="0"/>
          </a:p>
          <a:p>
            <a:r>
              <a:rPr lang="en-AS" dirty="0"/>
              <a:t>4-shrouk mohamed</a:t>
            </a:r>
          </a:p>
          <a:p>
            <a:r>
              <a:rPr lang="en-AS" dirty="0"/>
              <a:t>5-aya mohamed </a:t>
            </a:r>
            <a:r>
              <a:rPr lang="en-AS" dirty="0" err="1"/>
              <a:t>sayed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487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3D443-9BD8-59A4-3452-DD79132A2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Audio amplifier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9D829-5340-49C6-49E5-0D981FE02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S" dirty="0">
                <a:solidFill>
                  <a:srgbClr val="FF0000"/>
                </a:solidFill>
              </a:rPr>
              <a:t>Purpose of this project:   </a:t>
            </a:r>
          </a:p>
          <a:p>
            <a:r>
              <a:rPr lang="en-AS" dirty="0"/>
              <a:t>**our purpose is to turn small signal to large signal using lm386.</a:t>
            </a:r>
            <a:br>
              <a:rPr lang="en-AS" dirty="0"/>
            </a:br>
            <a:r>
              <a:rPr lang="en-AS" dirty="0">
                <a:solidFill>
                  <a:srgbClr val="C00000"/>
                </a:solidFill>
              </a:rPr>
              <a:t>Components of project :</a:t>
            </a:r>
            <a:br>
              <a:rPr lang="en-AS" dirty="0">
                <a:solidFill>
                  <a:srgbClr val="C00000"/>
                </a:solidFill>
              </a:rPr>
            </a:br>
            <a:r>
              <a:rPr lang="en-AS" dirty="0"/>
              <a:t>1- IC </a:t>
            </a:r>
            <a:r>
              <a:rPr lang="en-US" dirty="0" err="1"/>
              <a:t>Lm</a:t>
            </a:r>
            <a:r>
              <a:rPr lang="en-AS" dirty="0"/>
              <a:t>386.</a:t>
            </a:r>
            <a:br>
              <a:rPr lang="en-AS" dirty="0"/>
            </a:br>
            <a:r>
              <a:rPr lang="en-AS" dirty="0"/>
              <a:t>2- 4 capacitors (100uf, </a:t>
            </a:r>
            <a:r>
              <a:rPr lang="en-US" dirty="0"/>
              <a:t> 220uf, </a:t>
            </a:r>
            <a:r>
              <a:rPr lang="en-AS" dirty="0"/>
              <a:t>47</a:t>
            </a:r>
            <a:r>
              <a:rPr lang="en-US" dirty="0"/>
              <a:t>n</a:t>
            </a:r>
            <a:r>
              <a:rPr lang="en-AS" dirty="0"/>
              <a:t>f </a:t>
            </a:r>
            <a:r>
              <a:rPr lang="en-US" dirty="0"/>
              <a:t>and</a:t>
            </a:r>
            <a:r>
              <a:rPr lang="en-AS" dirty="0"/>
              <a:t> 10uf</a:t>
            </a:r>
            <a:r>
              <a:rPr lang="en-US" dirty="0"/>
              <a:t>)</a:t>
            </a:r>
            <a:r>
              <a:rPr lang="en-AS" dirty="0"/>
              <a:t>.</a:t>
            </a:r>
            <a:br>
              <a:rPr lang="en-AS" dirty="0"/>
            </a:br>
            <a:r>
              <a:rPr lang="en-AS" dirty="0"/>
              <a:t>3- Adaptor to gain dc signal.</a:t>
            </a:r>
          </a:p>
          <a:p>
            <a:r>
              <a:rPr lang="en-AS" dirty="0"/>
              <a:t>4- Potentiometer (10 k ohm).</a:t>
            </a:r>
          </a:p>
          <a:p>
            <a:r>
              <a:rPr lang="en-AS" dirty="0"/>
              <a:t>5- Speaker.</a:t>
            </a:r>
            <a:br>
              <a:rPr lang="en-AS" dirty="0"/>
            </a:br>
            <a:endParaRPr lang="en-AS" dirty="0"/>
          </a:p>
        </p:txBody>
      </p:sp>
    </p:spTree>
    <p:extLst>
      <p:ext uri="{BB962C8B-B14F-4D97-AF65-F5344CB8AC3E}">
        <p14:creationId xmlns:p14="http://schemas.microsoft.com/office/powerpoint/2010/main" val="2270704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EB43-DEB4-0042-A4E1-6C0949C7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Audio amplifier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1878C-5F75-3A36-3950-2E159ECB6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S" dirty="0"/>
              <a:t>--</a:t>
            </a:r>
            <a:r>
              <a:rPr lang="en-AS" dirty="0">
                <a:solidFill>
                  <a:srgbClr val="C00000"/>
                </a:solidFill>
              </a:rPr>
              <a:t>Amplifier</a:t>
            </a:r>
            <a:r>
              <a:rPr lang="en-AS" dirty="0"/>
              <a:t> </a:t>
            </a:r>
            <a:r>
              <a:rPr lang="en-AS" dirty="0">
                <a:solidFill>
                  <a:srgbClr val="C00000"/>
                </a:solidFill>
              </a:rPr>
              <a:t>Operation</a:t>
            </a:r>
            <a:br>
              <a:rPr lang="en-AS" dirty="0">
                <a:solidFill>
                  <a:srgbClr val="C00000"/>
                </a:solidFill>
              </a:rPr>
            </a:br>
            <a:r>
              <a:rPr lang="en-AS" dirty="0"/>
              <a:t> </a:t>
            </a:r>
            <a:r>
              <a:rPr lang="en-AS" dirty="0">
                <a:sym typeface="Wingdings" panose="05000000000000000000" pitchFamily="2" charset="2"/>
              </a:rPr>
              <a:t> the biasing of transistor is </a:t>
            </a:r>
            <a:r>
              <a:rPr lang="en-AS" dirty="0" err="1">
                <a:sym typeface="Wingdings" panose="05000000000000000000" pitchFamily="2" charset="2"/>
              </a:rPr>
              <a:t>pur</a:t>
            </a:r>
            <a:r>
              <a:rPr lang="en-US" dirty="0">
                <a:sym typeface="Wingdings" panose="05000000000000000000" pitchFamily="2" charset="2"/>
              </a:rPr>
              <a:t>e</a:t>
            </a:r>
            <a:r>
              <a:rPr lang="en-AS" dirty="0" err="1">
                <a:sym typeface="Wingdings" panose="05000000000000000000" pitchFamily="2" charset="2"/>
              </a:rPr>
              <a:t>ly</a:t>
            </a:r>
            <a:r>
              <a:rPr lang="en-AS" dirty="0">
                <a:sym typeface="Wingdings" panose="05000000000000000000" pitchFamily="2" charset="2"/>
              </a:rPr>
              <a:t> dc operation </a:t>
            </a:r>
            <a:r>
              <a:rPr lang="en-AS" dirty="0" err="1">
                <a:sym typeface="Wingdings" panose="05000000000000000000" pitchFamily="2" charset="2"/>
              </a:rPr>
              <a:t>operation</a:t>
            </a:r>
            <a:r>
              <a:rPr lang="en-AS" dirty="0">
                <a:sym typeface="Wingdings" panose="05000000000000000000" pitchFamily="2" charset="2"/>
              </a:rPr>
              <a:t>. </a:t>
            </a:r>
            <a:r>
              <a:rPr lang="en-US" dirty="0">
                <a:sym typeface="Wingdings" panose="05000000000000000000" pitchFamily="2" charset="2"/>
              </a:rPr>
              <a:t>T</a:t>
            </a:r>
            <a:r>
              <a:rPr lang="en-AS" dirty="0">
                <a:sym typeface="Wingdings" panose="05000000000000000000" pitchFamily="2" charset="2"/>
              </a:rPr>
              <a:t>he purpose of biasing is to establish a Q-point about which variations in cur</a:t>
            </a:r>
            <a:r>
              <a:rPr lang="en-US" dirty="0">
                <a:sym typeface="Wingdings" panose="05000000000000000000" pitchFamily="2" charset="2"/>
              </a:rPr>
              <a:t>r</a:t>
            </a:r>
            <a:r>
              <a:rPr lang="en-AS" dirty="0" err="1">
                <a:sym typeface="Wingdings" panose="05000000000000000000" pitchFamily="2" charset="2"/>
              </a:rPr>
              <a:t>ent</a:t>
            </a:r>
            <a:r>
              <a:rPr lang="en-AS" dirty="0">
                <a:sym typeface="Wingdings" panose="05000000000000000000" pitchFamily="2" charset="2"/>
              </a:rPr>
              <a:t> and voltage can </a:t>
            </a:r>
            <a:r>
              <a:rPr lang="en-AS" dirty="0" err="1">
                <a:sym typeface="Wingdings" panose="05000000000000000000" pitchFamily="2" charset="2"/>
              </a:rPr>
              <a:t>accure</a:t>
            </a:r>
            <a:r>
              <a:rPr lang="en-AS" dirty="0">
                <a:sym typeface="Wingdings" panose="05000000000000000000" pitchFamily="2" charset="2"/>
              </a:rPr>
              <a:t> in response to an AC input signal.  In applications where a small signal voltage must be a</a:t>
            </a:r>
            <a:r>
              <a:rPr lang="en-AS" dirty="0"/>
              <a:t>mplified Such as from an antenna or a microphone variations about Q-point are relatively small.</a:t>
            </a:r>
            <a:br>
              <a:rPr lang="en-AS" dirty="0"/>
            </a:br>
            <a:r>
              <a:rPr lang="en-AS" dirty="0">
                <a:highlight>
                  <a:srgbClr val="FFFF00"/>
                </a:highlight>
              </a:rPr>
              <a:t>Audio</a:t>
            </a:r>
            <a:r>
              <a:rPr lang="en-AS" dirty="0"/>
              <a:t> </a:t>
            </a:r>
            <a:r>
              <a:rPr lang="en-AS" dirty="0">
                <a:highlight>
                  <a:srgbClr val="FFFF00"/>
                </a:highlight>
              </a:rPr>
              <a:t>amplifier</a:t>
            </a:r>
            <a:r>
              <a:rPr lang="en-AS" dirty="0"/>
              <a:t>  is designed to handle these small AC signal are  often referred to AC small signal  amplifier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948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ACB61050-E3A3-12BC-5F3C-3C095B2DD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48" y="5270987"/>
            <a:ext cx="8534400" cy="1362075"/>
          </a:xfrm>
          <a:prstGeom prst="rect">
            <a:avLst/>
          </a:prstGeom>
        </p:spPr>
      </p:pic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8AFD95CB-DE38-8156-C028-B17EC6B14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584" y="186612"/>
            <a:ext cx="7547119" cy="508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4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02FAC-C477-5F85-4F5F-843B474D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>
                <a:solidFill>
                  <a:srgbClr val="C00000"/>
                </a:solidFill>
              </a:rPr>
              <a:t>Audio amplifier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1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C204FACB-3B56-B8CE-E6A9-1946C722AA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049"/>
          <a:stretch/>
        </p:blipFill>
        <p:spPr>
          <a:xfrm>
            <a:off x="7948527" y="2084832"/>
            <a:ext cx="3001090" cy="4022725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3B1FB70-06C5-7DE4-6190-1D92013E3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S" dirty="0"/>
          </a:p>
          <a:p>
            <a:pPr marL="0" indent="0">
              <a:buNone/>
            </a:pPr>
            <a:r>
              <a:rPr lang="en-AS" dirty="0">
                <a:highlight>
                  <a:srgbClr val="FFFF00"/>
                </a:highlight>
              </a:rPr>
              <a:t>Q-point in Active region .</a:t>
            </a:r>
          </a:p>
          <a:p>
            <a:pPr marL="1078992" lvl="7" indent="0">
              <a:buNone/>
            </a:pPr>
            <a:endParaRPr lang="en-AS" dirty="0">
              <a:sym typeface="Wingdings" panose="05000000000000000000" pitchFamily="2" charset="2"/>
            </a:endParaRPr>
          </a:p>
          <a:p>
            <a:pPr marL="1078992" lvl="7" indent="0">
              <a:buNone/>
            </a:pPr>
            <a:r>
              <a:rPr lang="en-AS" sz="1800" dirty="0">
                <a:sym typeface="Wingdings" panose="05000000000000000000" pitchFamily="2" charset="2"/>
              </a:rPr>
              <a:t>IC,IE and IB are Dc quantity </a:t>
            </a:r>
            <a:br>
              <a:rPr lang="en-AS" dirty="0">
                <a:sym typeface="Wingdings" panose="05000000000000000000" pitchFamily="2" charset="2"/>
              </a:rPr>
            </a:br>
            <a:r>
              <a:rPr lang="en-AS" sz="1800" dirty="0">
                <a:sym typeface="Wingdings" panose="05000000000000000000" pitchFamily="2" charset="2"/>
              </a:rPr>
              <a:t> </a:t>
            </a:r>
            <a:r>
              <a:rPr lang="en-AS" sz="1800" dirty="0" err="1">
                <a:sym typeface="Wingdings" panose="05000000000000000000" pitchFamily="2" charset="2"/>
              </a:rPr>
              <a:t>Ic,Ib,Ie</a:t>
            </a:r>
            <a:r>
              <a:rPr lang="en-AS" sz="1800" dirty="0">
                <a:sym typeface="Wingdings" panose="05000000000000000000" pitchFamily="2" charset="2"/>
              </a:rPr>
              <a:t> and </a:t>
            </a:r>
            <a:r>
              <a:rPr lang="en-AS" sz="1800" dirty="0" err="1">
                <a:sym typeface="Wingdings" panose="05000000000000000000" pitchFamily="2" charset="2"/>
              </a:rPr>
              <a:t>Vce</a:t>
            </a:r>
            <a:r>
              <a:rPr lang="en-AS" sz="1800" dirty="0">
                <a:sym typeface="Wingdings" panose="05000000000000000000" pitchFamily="2" charset="2"/>
              </a:rPr>
              <a:t> are RMS values (AC quantities).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600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771928B-391A-59AD-DB7E-2FB4892B2F3E}"/>
              </a:ext>
            </a:extLst>
          </p:cNvPr>
          <p:cNvGrpSpPr/>
          <p:nvPr/>
        </p:nvGrpSpPr>
        <p:grpSpPr>
          <a:xfrm>
            <a:off x="3155931" y="1951371"/>
            <a:ext cx="5055840" cy="2303640"/>
            <a:chOff x="3155931" y="1951371"/>
            <a:chExt cx="5055840" cy="23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C54830D-9DF5-F28B-D0D7-4D1B82C500BB}"/>
                    </a:ext>
                  </a:extLst>
                </p14:cNvPr>
                <p14:cNvContentPartPr/>
                <p14:nvPr/>
              </p14:nvContentPartPr>
              <p14:xfrm>
                <a:off x="3155931" y="2156571"/>
                <a:ext cx="1857600" cy="2098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C54830D-9DF5-F28B-D0D7-4D1B82C500B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46931" y="2147931"/>
                  <a:ext cx="1875240" cy="21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C78C75A-205E-1FE9-2AEC-E520B8331555}"/>
                    </a:ext>
                  </a:extLst>
                </p14:cNvPr>
                <p14:cNvContentPartPr/>
                <p14:nvPr/>
              </p14:nvContentPartPr>
              <p14:xfrm>
                <a:off x="4985811" y="2834091"/>
                <a:ext cx="1490400" cy="1116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C78C75A-205E-1FE9-2AEC-E520B83315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77171" y="2825091"/>
                  <a:ext cx="1508040" cy="11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02670C4-966B-FF17-861A-4265F563A468}"/>
                    </a:ext>
                  </a:extLst>
                </p14:cNvPr>
                <p14:cNvContentPartPr/>
                <p14:nvPr/>
              </p14:nvContentPartPr>
              <p14:xfrm>
                <a:off x="6947451" y="1951371"/>
                <a:ext cx="1264320" cy="2171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02670C4-966B-FF17-861A-4265F563A46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38448" y="1942370"/>
                  <a:ext cx="1281965" cy="2188803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574C4CC-CACA-FCBC-AD80-FEFC6027B3F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1586" t="14578" r="6402" b="26554"/>
          <a:stretch/>
        </p:blipFill>
        <p:spPr>
          <a:xfrm>
            <a:off x="1177863" y="0"/>
            <a:ext cx="9245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51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4221-66B7-C7C0-DA53-C5B172AA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Function of each comp.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0EE33-F01F-231D-BF13-0CE868A2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S" sz="2800" dirty="0"/>
              <a:t>An </a:t>
            </a:r>
            <a:r>
              <a:rPr lang="en-AS" sz="2800" dirty="0" err="1"/>
              <a:t>Ic</a:t>
            </a:r>
            <a:r>
              <a:rPr lang="en-AS" sz="2800" dirty="0"/>
              <a:t> with a </a:t>
            </a:r>
            <a:r>
              <a:rPr lang="en-AS" sz="2800" dirty="0" err="1"/>
              <a:t>sunsoidal</a:t>
            </a:r>
            <a:r>
              <a:rPr lang="en-AS" sz="2800" dirty="0"/>
              <a:t> ac source capacitively coupled to  a load (</a:t>
            </a:r>
            <a:r>
              <a:rPr lang="en-AS" sz="2800" dirty="0">
                <a:highlight>
                  <a:srgbClr val="FFFF00"/>
                </a:highlight>
              </a:rPr>
              <a:t>speaker</a:t>
            </a:r>
            <a:r>
              <a:rPr lang="en-AS" sz="2800" dirty="0"/>
              <a:t> ) capacitively coupled to pin </a:t>
            </a:r>
            <a:r>
              <a:rPr lang="en-AS" sz="2800" dirty="0">
                <a:highlight>
                  <a:srgbClr val="FFFF00"/>
                </a:highlight>
              </a:rPr>
              <a:t>5</a:t>
            </a:r>
            <a:r>
              <a:rPr lang="en-AS" sz="2800" dirty="0"/>
              <a:t> through c2 (</a:t>
            </a:r>
            <a:r>
              <a:rPr lang="ar-EG" sz="2800" dirty="0"/>
              <a:t>220</a:t>
            </a:r>
            <a:r>
              <a:rPr lang="en-AS" sz="2800" dirty="0" err="1"/>
              <a:t>uf</a:t>
            </a:r>
            <a:r>
              <a:rPr lang="en-AS" sz="2800" dirty="0"/>
              <a:t>) as shown in schematic .</a:t>
            </a:r>
          </a:p>
          <a:p>
            <a:r>
              <a:rPr lang="en-US" sz="2800" dirty="0"/>
              <a:t>T</a:t>
            </a:r>
            <a:r>
              <a:rPr lang="en-AS" sz="2800" dirty="0"/>
              <a:t>he coupling capacitor blocked DC and thus prevent the internal so</a:t>
            </a:r>
            <a:r>
              <a:rPr lang="en-US" sz="2800" dirty="0"/>
              <a:t>u</a:t>
            </a:r>
            <a:r>
              <a:rPr lang="en-AS" sz="2800" dirty="0" err="1"/>
              <a:t>rce</a:t>
            </a:r>
            <a:r>
              <a:rPr lang="en-AS" sz="2800" dirty="0"/>
              <a:t> resistance( the </a:t>
            </a:r>
            <a:r>
              <a:rPr lang="en-AS" sz="2800" dirty="0">
                <a:highlight>
                  <a:srgbClr val="FFFF00"/>
                </a:highlight>
              </a:rPr>
              <a:t>input DC</a:t>
            </a:r>
            <a:r>
              <a:rPr lang="en-AS" sz="2800" dirty="0"/>
              <a:t>) and the load Resistance (</a:t>
            </a:r>
            <a:r>
              <a:rPr lang="en-AS" sz="2800" dirty="0">
                <a:highlight>
                  <a:srgbClr val="FFFF00"/>
                </a:highlight>
              </a:rPr>
              <a:t>speaker</a:t>
            </a:r>
            <a:r>
              <a:rPr lang="en-AS" sz="2800" dirty="0"/>
              <a:t>) from changing the DC bias voltage. </a:t>
            </a:r>
          </a:p>
          <a:p>
            <a:r>
              <a:rPr lang="en-AS" sz="2800" dirty="0"/>
              <a:t>the capacitors ideally appears as short to the signal voltage </a:t>
            </a:r>
            <a:r>
              <a:rPr lang="en-AS" sz="2800" dirty="0" err="1"/>
              <a:t>couses</a:t>
            </a:r>
            <a:r>
              <a:rPr lang="en-AS" sz="2800" dirty="0"/>
              <a:t> the pin (3) voltage to  vary </a:t>
            </a:r>
            <a:r>
              <a:rPr lang="en-AS" sz="2800" dirty="0" err="1"/>
              <a:t>sunsoidal</a:t>
            </a:r>
            <a:r>
              <a:rPr lang="en-AS" sz="2800" dirty="0"/>
              <a:t>.</a:t>
            </a:r>
          </a:p>
          <a:p>
            <a:br>
              <a:rPr lang="en-AS" sz="2800" dirty="0"/>
            </a:b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324D2E-09DF-902D-942E-B85815D4C739}"/>
                  </a:ext>
                </a:extLst>
              </p14:cNvPr>
              <p14:cNvContentPartPr/>
              <p14:nvPr/>
            </p14:nvContentPartPr>
            <p14:xfrm>
              <a:off x="3206119" y="354160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324D2E-09DF-902D-942E-B85815D4C7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7119" y="35326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D74B72-79B6-795E-3928-12CDDA75B9F5}"/>
                  </a:ext>
                </a:extLst>
              </p14:cNvPr>
              <p14:cNvContentPartPr/>
              <p14:nvPr/>
            </p14:nvContentPartPr>
            <p14:xfrm>
              <a:off x="2719759" y="2859043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D74B72-79B6-795E-3928-12CDDA75B9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11119" y="285004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B353791-7DEA-7DD1-10BD-C7428741B383}"/>
                  </a:ext>
                </a:extLst>
              </p14:cNvPr>
              <p14:cNvContentPartPr/>
              <p14:nvPr/>
            </p14:nvContentPartPr>
            <p14:xfrm>
              <a:off x="2245279" y="252316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B353791-7DEA-7DD1-10BD-C7428741B3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6279" y="25145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B82148-FECF-ABFB-FA1F-EECA38A92B7A}"/>
                  </a:ext>
                </a:extLst>
              </p14:cNvPr>
              <p14:cNvContentPartPr/>
              <p14:nvPr/>
            </p14:nvContentPartPr>
            <p14:xfrm>
              <a:off x="2245279" y="252316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B82148-FECF-ABFB-FA1F-EECA38A92B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6279" y="25145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0ABC120-DF90-2AEB-F30D-8567FF2A9FDD}"/>
                  </a:ext>
                </a:extLst>
              </p14:cNvPr>
              <p14:cNvContentPartPr/>
              <p14:nvPr/>
            </p14:nvContentPartPr>
            <p14:xfrm>
              <a:off x="1620319" y="1782337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0ABC120-DF90-2AEB-F30D-8567FF2A9F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1319" y="177333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093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5356-0259-A7CA-B98F-1AE03F63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4431792" cy="1499616"/>
          </a:xfrm>
        </p:spPr>
        <p:txBody>
          <a:bodyPr>
            <a:normAutofit/>
          </a:bodyPr>
          <a:lstStyle/>
          <a:p>
            <a:r>
              <a:rPr lang="en-AS"/>
              <a:t>Function of each comp.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B3212-917C-D849-F547-29D912BF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429615" cy="3931920"/>
          </a:xfrm>
        </p:spPr>
        <p:txBody>
          <a:bodyPr>
            <a:normAutofit/>
          </a:bodyPr>
          <a:lstStyle/>
          <a:p>
            <a:r>
              <a:rPr lang="en-US"/>
              <a:t>A</a:t>
            </a:r>
            <a:r>
              <a:rPr lang="en-AS"/>
              <a:t>bove and below its DC bias level VBQ.</a:t>
            </a:r>
          </a:p>
          <a:p>
            <a:pPr marL="0" indent="0">
              <a:buNone/>
            </a:pPr>
            <a:r>
              <a:rPr lang="en-AS"/>
              <a:t>the resulting variation in pin (</a:t>
            </a:r>
            <a:r>
              <a:rPr lang="en-AS">
                <a:highlight>
                  <a:srgbClr val="FFFF00"/>
                </a:highlight>
              </a:rPr>
              <a:t>3</a:t>
            </a:r>
            <a:r>
              <a:rPr lang="en-AS"/>
              <a:t>) current produces a large variation in pin (</a:t>
            </a:r>
            <a:r>
              <a:rPr lang="en-AS">
                <a:highlight>
                  <a:srgbClr val="FFFF00"/>
                </a:highlight>
              </a:rPr>
              <a:t>5</a:t>
            </a:r>
            <a:r>
              <a:rPr lang="en-AS"/>
              <a:t>) current.</a:t>
            </a:r>
          </a:p>
          <a:p>
            <a:pPr marL="0" indent="0">
              <a:buNone/>
            </a:pPr>
            <a:r>
              <a:rPr lang="en-US"/>
              <a:t>B</a:t>
            </a:r>
            <a:r>
              <a:rPr lang="en-AS"/>
              <a:t>ecause of the current gain of transistor.</a:t>
            </a:r>
            <a:br>
              <a:rPr lang="en-AS"/>
            </a:b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2AEC4CA-740D-02A8-EEE7-508D9421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337" y="640080"/>
            <a:ext cx="364324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4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BE6A-3E9C-1BC4-BD2C-AE1D4169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6" y="585216"/>
            <a:ext cx="9720072" cy="1499616"/>
          </a:xfrm>
        </p:spPr>
        <p:txBody>
          <a:bodyPr/>
          <a:lstStyle/>
          <a:p>
            <a:r>
              <a:rPr lang="en-US" dirty="0"/>
              <a:t>All function in one !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322C011-EE9A-CA3C-7A47-64F779879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1508210"/>
              </p:ext>
            </p:extLst>
          </p:nvPr>
        </p:nvGraphicFramePr>
        <p:xfrm>
          <a:off x="1023938" y="2286000"/>
          <a:ext cx="9788472" cy="461350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7118">
                  <a:extLst>
                    <a:ext uri="{9D8B030D-6E8A-4147-A177-3AD203B41FA5}">
                      <a16:colId xmlns:a16="http://schemas.microsoft.com/office/drawing/2014/main" val="2861679493"/>
                    </a:ext>
                  </a:extLst>
                </a:gridCol>
                <a:gridCol w="2447118">
                  <a:extLst>
                    <a:ext uri="{9D8B030D-6E8A-4147-A177-3AD203B41FA5}">
                      <a16:colId xmlns:a16="http://schemas.microsoft.com/office/drawing/2014/main" val="1027497533"/>
                    </a:ext>
                  </a:extLst>
                </a:gridCol>
                <a:gridCol w="2447118">
                  <a:extLst>
                    <a:ext uri="{9D8B030D-6E8A-4147-A177-3AD203B41FA5}">
                      <a16:colId xmlns:a16="http://schemas.microsoft.com/office/drawing/2014/main" val="1340327987"/>
                    </a:ext>
                  </a:extLst>
                </a:gridCol>
                <a:gridCol w="2447118">
                  <a:extLst>
                    <a:ext uri="{9D8B030D-6E8A-4147-A177-3AD203B41FA5}">
                      <a16:colId xmlns:a16="http://schemas.microsoft.com/office/drawing/2014/main" val="4129323436"/>
                    </a:ext>
                  </a:extLst>
                </a:gridCol>
              </a:tblGrid>
              <a:tr h="1045866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sz="3200" dirty="0"/>
                        <a:t>name of comp.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Graphic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Its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125149"/>
                  </a:ext>
                </a:extLst>
              </a:tr>
              <a:tr h="866574">
                <a:tc>
                  <a:txBody>
                    <a:bodyPr/>
                    <a:lstStyle/>
                    <a:p>
                      <a:r>
                        <a:rPr lang="en-US" sz="3200" dirty="0" err="1"/>
                        <a:t>ic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S" sz="2800" dirty="0"/>
                        <a:t>lm386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590998"/>
                  </a:ext>
                </a:extLst>
              </a:tr>
              <a:tr h="946986">
                <a:tc>
                  <a:txBody>
                    <a:bodyPr/>
                    <a:lstStyle/>
                    <a:p>
                      <a:r>
                        <a:rPr lang="en-US" sz="3200" dirty="0"/>
                        <a:t>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S" sz="2800" dirty="0"/>
                        <a:t>10k ohm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758099"/>
                  </a:ext>
                </a:extLst>
              </a:tr>
              <a:tr h="866574">
                <a:tc>
                  <a:txBody>
                    <a:bodyPr/>
                    <a:lstStyle/>
                    <a:p>
                      <a:r>
                        <a:rPr lang="en-US" sz="3200" dirty="0"/>
                        <a:t>capacitors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S" sz="2400" dirty="0"/>
                        <a:t>100u,47nf,10uf,220uf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096851"/>
                  </a:ext>
                </a:extLst>
              </a:tr>
              <a:tr h="866574">
                <a:tc>
                  <a:txBody>
                    <a:bodyPr/>
                    <a:lstStyle/>
                    <a:p>
                      <a:r>
                        <a:rPr lang="en-US" sz="3200" dirty="0"/>
                        <a:t>speaker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S" sz="2800" dirty="0"/>
                        <a:t>3 watt ,4 ohm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229180"/>
                  </a:ext>
                </a:extLst>
              </a:tr>
            </a:tbl>
          </a:graphicData>
        </a:graphic>
      </p:graphicFrame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DB7343CC-5E87-9E5C-67BE-B7729D161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742" y="3345672"/>
            <a:ext cx="2510818" cy="814599"/>
          </a:xfrm>
          <a:prstGeom prst="rect">
            <a:avLst/>
          </a:prstGeom>
        </p:spPr>
      </p:pic>
      <p:pic>
        <p:nvPicPr>
          <p:cNvPr id="14" name="Picture 13" descr="Diagram&#10;&#10;Description automatically generated with low confidence">
            <a:extLst>
              <a:ext uri="{FF2B5EF4-FFF2-40B4-BE49-F238E27FC236}">
                <a16:creationId xmlns:a16="http://schemas.microsoft.com/office/drawing/2014/main" id="{F4B42D1E-AFF2-6DB7-30BB-C3180EBDF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12" y="4232259"/>
            <a:ext cx="2575548" cy="814598"/>
          </a:xfrm>
          <a:prstGeom prst="rect">
            <a:avLst/>
          </a:prstGeom>
        </p:spPr>
      </p:pic>
      <p:pic>
        <p:nvPicPr>
          <p:cNvPr id="16" name="Picture 15" descr="A picture containing diagram&#10;&#10;Description automatically generated">
            <a:extLst>
              <a:ext uri="{FF2B5EF4-FFF2-40B4-BE49-F238E27FC236}">
                <a16:creationId xmlns:a16="http://schemas.microsoft.com/office/drawing/2014/main" id="{8793629A-6A56-A5A0-B69D-996A0678E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396" y="5944295"/>
            <a:ext cx="2571778" cy="87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83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174</TotalTime>
  <Words>382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Tw Cen MT</vt:lpstr>
      <vt:lpstr>Tw Cen MT Condensed</vt:lpstr>
      <vt:lpstr>Wingdings 3</vt:lpstr>
      <vt:lpstr>Integral</vt:lpstr>
      <vt:lpstr>Audio amplifier</vt:lpstr>
      <vt:lpstr>Audio amplifier</vt:lpstr>
      <vt:lpstr>Audio amplifier</vt:lpstr>
      <vt:lpstr>PowerPoint Presentation</vt:lpstr>
      <vt:lpstr>Audio amplifier</vt:lpstr>
      <vt:lpstr>PowerPoint Presentation</vt:lpstr>
      <vt:lpstr>Function of each comp.</vt:lpstr>
      <vt:lpstr>Function of each comp.</vt:lpstr>
      <vt:lpstr>All function in one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amplifier</dc:title>
  <dc:creator>aya mohamed</dc:creator>
  <cp:lastModifiedBy>aya mohamed</cp:lastModifiedBy>
  <cp:revision>4</cp:revision>
  <dcterms:created xsi:type="dcterms:W3CDTF">2023-03-15T18:49:25Z</dcterms:created>
  <dcterms:modified xsi:type="dcterms:W3CDTF">2023-03-21T07:44:36Z</dcterms:modified>
</cp:coreProperties>
</file>